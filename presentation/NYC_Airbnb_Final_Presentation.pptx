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FFC19B-D6F7-4FB1-827C-E0EE51784DD6}" v="129" dt="2026-06-17T12:46:59.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952" autoAdjust="0"/>
  </p:normalViewPr>
  <p:slideViewPr>
    <p:cSldViewPr snapToGrid="0">
      <p:cViewPr varScale="1">
        <p:scale>
          <a:sx n="66" d="100"/>
          <a:sy n="66" d="100"/>
        </p:scale>
        <p:origin x="6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couba Moumouni (RKB)" userId="ae3e9922-4a31-4b91-9a5e-c37a396c87c5" providerId="ADAL" clId="{69BD877A-DC67-4D98-AAEE-19D6FE2954BC}"/>
    <pc:docChg chg="undo custSel addSld modSld">
      <pc:chgData name="Yacouba Moumouni (RKB)" userId="ae3e9922-4a31-4b91-9a5e-c37a396c87c5" providerId="ADAL" clId="{69BD877A-DC67-4D98-AAEE-19D6FE2954BC}" dt="2026-06-17T12:47:04.239" v="456" actId="14100"/>
      <pc:docMkLst>
        <pc:docMk/>
      </pc:docMkLst>
      <pc:sldChg chg="modSp mod">
        <pc:chgData name="Yacouba Moumouni (RKB)" userId="ae3e9922-4a31-4b91-9a5e-c37a396c87c5" providerId="ADAL" clId="{69BD877A-DC67-4D98-AAEE-19D6FE2954BC}" dt="2026-06-14T12:47:29.729" v="315" actId="20577"/>
        <pc:sldMkLst>
          <pc:docMk/>
          <pc:sldMk cId="3563776073" sldId="256"/>
        </pc:sldMkLst>
        <pc:spChg chg="mod">
          <ac:chgData name="Yacouba Moumouni (RKB)" userId="ae3e9922-4a31-4b91-9a5e-c37a396c87c5" providerId="ADAL" clId="{69BD877A-DC67-4D98-AAEE-19D6FE2954BC}" dt="2026-06-14T12:47:29.729" v="315" actId="20577"/>
          <ac:spMkLst>
            <pc:docMk/>
            <pc:sldMk cId="3563776073" sldId="256"/>
            <ac:spMk id="4" creationId="{00000000-0000-0000-0000-000000000000}"/>
          </ac:spMkLst>
        </pc:spChg>
      </pc:sldChg>
      <pc:sldChg chg="modSp">
        <pc:chgData name="Yacouba Moumouni (RKB)" userId="ae3e9922-4a31-4b91-9a5e-c37a396c87c5" providerId="ADAL" clId="{69BD877A-DC67-4D98-AAEE-19D6FE2954BC}" dt="2026-06-14T09:15:55.581" v="8" actId="20577"/>
        <pc:sldMkLst>
          <pc:docMk/>
          <pc:sldMk cId="3920411494" sldId="263"/>
        </pc:sldMkLst>
        <pc:spChg chg="mod">
          <ac:chgData name="Yacouba Moumouni (RKB)" userId="ae3e9922-4a31-4b91-9a5e-c37a396c87c5" providerId="ADAL" clId="{69BD877A-DC67-4D98-AAEE-19D6FE2954BC}" dt="2026-06-14T09:15:55.581" v="8" actId="20577"/>
          <ac:spMkLst>
            <pc:docMk/>
            <pc:sldMk cId="3920411494" sldId="263"/>
            <ac:spMk id="3" creationId="{00000000-0000-0000-0000-000000000000}"/>
          </ac:spMkLst>
        </pc:spChg>
      </pc:sldChg>
      <pc:sldChg chg="modSp mod">
        <pc:chgData name="Yacouba Moumouni (RKB)" userId="ae3e9922-4a31-4b91-9a5e-c37a396c87c5" providerId="ADAL" clId="{69BD877A-DC67-4D98-AAEE-19D6FE2954BC}" dt="2026-06-14T13:36:19.315" v="353" actId="6549"/>
        <pc:sldMkLst>
          <pc:docMk/>
          <pc:sldMk cId="4114751307" sldId="267"/>
        </pc:sldMkLst>
        <pc:spChg chg="mod">
          <ac:chgData name="Yacouba Moumouni (RKB)" userId="ae3e9922-4a31-4b91-9a5e-c37a396c87c5" providerId="ADAL" clId="{69BD877A-DC67-4D98-AAEE-19D6FE2954BC}" dt="2026-06-14T13:35:54.271" v="343" actId="14100"/>
          <ac:spMkLst>
            <pc:docMk/>
            <pc:sldMk cId="4114751307" sldId="267"/>
            <ac:spMk id="2" creationId="{0B1FD603-2341-C76F-EAB0-E2142DC38F13}"/>
          </ac:spMkLst>
        </pc:spChg>
        <pc:spChg chg="mod">
          <ac:chgData name="Yacouba Moumouni (RKB)" userId="ae3e9922-4a31-4b91-9a5e-c37a396c87c5" providerId="ADAL" clId="{69BD877A-DC67-4D98-AAEE-19D6FE2954BC}" dt="2026-06-14T13:36:19.315" v="353" actId="6549"/>
          <ac:spMkLst>
            <pc:docMk/>
            <pc:sldMk cId="4114751307" sldId="267"/>
            <ac:spMk id="3" creationId="{B20AF6D1-6CCD-A017-E9D8-D5F60D14277B}"/>
          </ac:spMkLst>
        </pc:spChg>
        <pc:picChg chg="mod">
          <ac:chgData name="Yacouba Moumouni (RKB)" userId="ae3e9922-4a31-4b91-9a5e-c37a396c87c5" providerId="ADAL" clId="{69BD877A-DC67-4D98-AAEE-19D6FE2954BC}" dt="2026-06-14T13:36:12.820" v="350" actId="1035"/>
          <ac:picMkLst>
            <pc:docMk/>
            <pc:sldMk cId="4114751307" sldId="267"/>
            <ac:picMk id="2050" creationId="{EBE53429-DD46-D809-CEE0-ED51051E5C5A}"/>
          </ac:picMkLst>
        </pc:picChg>
      </pc:sldChg>
      <pc:sldChg chg="addSp delSp modSp new mod">
        <pc:chgData name="Yacouba Moumouni (RKB)" userId="ae3e9922-4a31-4b91-9a5e-c37a396c87c5" providerId="ADAL" clId="{69BD877A-DC67-4D98-AAEE-19D6FE2954BC}" dt="2026-06-14T13:32:22.536" v="342" actId="14100"/>
        <pc:sldMkLst>
          <pc:docMk/>
          <pc:sldMk cId="719023112" sldId="269"/>
        </pc:sldMkLst>
        <pc:spChg chg="mod">
          <ac:chgData name="Yacouba Moumouni (RKB)" userId="ae3e9922-4a31-4b91-9a5e-c37a396c87c5" providerId="ADAL" clId="{69BD877A-DC67-4D98-AAEE-19D6FE2954BC}" dt="2026-06-14T09:19:09.306" v="10"/>
          <ac:spMkLst>
            <pc:docMk/>
            <pc:sldMk cId="719023112" sldId="269"/>
            <ac:spMk id="2" creationId="{98FE50A1-D28D-A24E-6AFE-2E851C0D8B51}"/>
          </ac:spMkLst>
        </pc:spChg>
        <pc:graphicFrameChg chg="add mod modGraphic">
          <ac:chgData name="Yacouba Moumouni (RKB)" userId="ae3e9922-4a31-4b91-9a5e-c37a396c87c5" providerId="ADAL" clId="{69BD877A-DC67-4D98-AAEE-19D6FE2954BC}" dt="2026-06-14T13:32:22.536" v="342" actId="14100"/>
          <ac:graphicFrameMkLst>
            <pc:docMk/>
            <pc:sldMk cId="719023112" sldId="269"/>
            <ac:graphicFrameMk id="4" creationId="{FBAAE5F0-66E7-7B5B-DFB4-26F1DA364A15}"/>
          </ac:graphicFrameMkLst>
        </pc:graphicFrameChg>
      </pc:sldChg>
      <pc:sldChg chg="addSp delSp modSp new mod modAnim">
        <pc:chgData name="Yacouba Moumouni (RKB)" userId="ae3e9922-4a31-4b91-9a5e-c37a396c87c5" providerId="ADAL" clId="{69BD877A-DC67-4D98-AAEE-19D6FE2954BC}" dt="2026-06-14T12:43:58.493" v="312" actId="14100"/>
        <pc:sldMkLst>
          <pc:docMk/>
          <pc:sldMk cId="2916484359" sldId="270"/>
        </pc:sldMkLst>
        <pc:spChg chg="mod">
          <ac:chgData name="Yacouba Moumouni (RKB)" userId="ae3e9922-4a31-4b91-9a5e-c37a396c87c5" providerId="ADAL" clId="{69BD877A-DC67-4D98-AAEE-19D6FE2954BC}" dt="2026-06-14T12:43:58.493" v="312" actId="14100"/>
          <ac:spMkLst>
            <pc:docMk/>
            <pc:sldMk cId="2916484359" sldId="270"/>
            <ac:spMk id="2" creationId="{E94E6AA4-DE28-B468-A1CC-410E187E4996}"/>
          </ac:spMkLst>
        </pc:spChg>
        <pc:spChg chg="add mod">
          <ac:chgData name="Yacouba Moumouni (RKB)" userId="ae3e9922-4a31-4b91-9a5e-c37a396c87c5" providerId="ADAL" clId="{69BD877A-DC67-4D98-AAEE-19D6FE2954BC}" dt="2026-06-14T12:43:51.262" v="311" actId="1076"/>
          <ac:spMkLst>
            <pc:docMk/>
            <pc:sldMk cId="2916484359" sldId="270"/>
            <ac:spMk id="5" creationId="{C223B2EB-9D34-54D2-1359-5986D168DEB8}"/>
          </ac:spMkLst>
        </pc:spChg>
        <pc:graphicFrameChg chg="add mod modGraphic">
          <ac:chgData name="Yacouba Moumouni (RKB)" userId="ae3e9922-4a31-4b91-9a5e-c37a396c87c5" providerId="ADAL" clId="{69BD877A-DC67-4D98-AAEE-19D6FE2954BC}" dt="2026-06-14T12:43:43.599" v="310" actId="1076"/>
          <ac:graphicFrameMkLst>
            <pc:docMk/>
            <pc:sldMk cId="2916484359" sldId="270"/>
            <ac:graphicFrameMk id="4" creationId="{0D94D0D8-049E-90EE-686E-9022900FB105}"/>
          </ac:graphicFrameMkLst>
        </pc:graphicFrameChg>
      </pc:sldChg>
      <pc:sldChg chg="addSp delSp modSp new mod setBg modAnim">
        <pc:chgData name="Yacouba Moumouni (RKB)" userId="ae3e9922-4a31-4b91-9a5e-c37a396c87c5" providerId="ADAL" clId="{69BD877A-DC67-4D98-AAEE-19D6FE2954BC}" dt="2026-06-14T09:50:28.745" v="301" actId="27636"/>
        <pc:sldMkLst>
          <pc:docMk/>
          <pc:sldMk cId="2362226652" sldId="271"/>
        </pc:sldMkLst>
        <pc:spChg chg="mod ord">
          <ac:chgData name="Yacouba Moumouni (RKB)" userId="ae3e9922-4a31-4b91-9a5e-c37a396c87c5" providerId="ADAL" clId="{69BD877A-DC67-4D98-AAEE-19D6FE2954BC}" dt="2026-06-14T09:49:54.324" v="294" actId="26606"/>
          <ac:spMkLst>
            <pc:docMk/>
            <pc:sldMk cId="2362226652" sldId="271"/>
            <ac:spMk id="2" creationId="{4B3A15CE-BEE6-9E0E-15AE-A90A78A24C3D}"/>
          </ac:spMkLst>
        </pc:spChg>
        <pc:spChg chg="add mod">
          <ac:chgData name="Yacouba Moumouni (RKB)" userId="ae3e9922-4a31-4b91-9a5e-c37a396c87c5" providerId="ADAL" clId="{69BD877A-DC67-4D98-AAEE-19D6FE2954BC}" dt="2026-06-14T09:50:28.745" v="301" actId="27636"/>
          <ac:spMkLst>
            <pc:docMk/>
            <pc:sldMk cId="2362226652" sldId="271"/>
            <ac:spMk id="5" creationId="{2A0EB660-7000-CC64-E4BB-8377F228E48C}"/>
          </ac:spMkLst>
        </pc:spChg>
        <pc:spChg chg="add">
          <ac:chgData name="Yacouba Moumouni (RKB)" userId="ae3e9922-4a31-4b91-9a5e-c37a396c87c5" providerId="ADAL" clId="{69BD877A-DC67-4D98-AAEE-19D6FE2954BC}" dt="2026-06-14T09:49:54.324" v="294" actId="26606"/>
          <ac:spMkLst>
            <pc:docMk/>
            <pc:sldMk cId="2362226652" sldId="271"/>
            <ac:spMk id="14" creationId="{E1CF2A21-8A04-457E-A95E-0E005AEE7D30}"/>
          </ac:spMkLst>
        </pc:spChg>
        <pc:picChg chg="add mod ord">
          <ac:chgData name="Yacouba Moumouni (RKB)" userId="ae3e9922-4a31-4b91-9a5e-c37a396c87c5" providerId="ADAL" clId="{69BD877A-DC67-4D98-AAEE-19D6FE2954BC}" dt="2026-06-14T09:49:54.324" v="294" actId="26606"/>
          <ac:picMkLst>
            <pc:docMk/>
            <pc:sldMk cId="2362226652" sldId="271"/>
            <ac:picMk id="7" creationId="{349A6CA6-A915-437B-B173-D1CD8D9CF13C}"/>
          </ac:picMkLst>
        </pc:picChg>
        <pc:cxnChg chg="add">
          <ac:chgData name="Yacouba Moumouni (RKB)" userId="ae3e9922-4a31-4b91-9a5e-c37a396c87c5" providerId="ADAL" clId="{69BD877A-DC67-4D98-AAEE-19D6FE2954BC}" dt="2026-06-14T09:49:54.324" v="294" actId="26606"/>
          <ac:cxnSpMkLst>
            <pc:docMk/>
            <pc:sldMk cId="2362226652" sldId="271"/>
            <ac:cxnSpMk id="12" creationId="{358D3741-4ACF-4DA5-ABD5-0C432115CDFA}"/>
          </ac:cxnSpMkLst>
        </pc:cxnChg>
        <pc:cxnChg chg="add">
          <ac:chgData name="Yacouba Moumouni (RKB)" userId="ae3e9922-4a31-4b91-9a5e-c37a396c87c5" providerId="ADAL" clId="{69BD877A-DC67-4D98-AAEE-19D6FE2954BC}" dt="2026-06-14T09:49:54.324" v="294" actId="26606"/>
          <ac:cxnSpMkLst>
            <pc:docMk/>
            <pc:sldMk cId="2362226652" sldId="271"/>
            <ac:cxnSpMk id="16" creationId="{8435344E-67FA-430E-A28D-6DF65F6262BB}"/>
          </ac:cxnSpMkLst>
        </pc:cxnChg>
      </pc:sldChg>
      <pc:sldChg chg="addSp delSp modSp new mod">
        <pc:chgData name="Yacouba Moumouni (RKB)" userId="ae3e9922-4a31-4b91-9a5e-c37a396c87c5" providerId="ADAL" clId="{69BD877A-DC67-4D98-AAEE-19D6FE2954BC}" dt="2026-06-14T09:43:43.174" v="269"/>
        <pc:sldMkLst>
          <pc:docMk/>
          <pc:sldMk cId="2336424290" sldId="272"/>
        </pc:sldMkLst>
        <pc:spChg chg="mod">
          <ac:chgData name="Yacouba Moumouni (RKB)" userId="ae3e9922-4a31-4b91-9a5e-c37a396c87c5" providerId="ADAL" clId="{69BD877A-DC67-4D98-AAEE-19D6FE2954BC}" dt="2026-06-14T09:43:02.114" v="260" actId="20577"/>
          <ac:spMkLst>
            <pc:docMk/>
            <pc:sldMk cId="2336424290" sldId="272"/>
            <ac:spMk id="2" creationId="{82EA5C37-F5E2-E88B-6476-EDCCE8C2088E}"/>
          </ac:spMkLst>
        </pc:spChg>
        <pc:graphicFrameChg chg="add mod modGraphic">
          <ac:chgData name="Yacouba Moumouni (RKB)" userId="ae3e9922-4a31-4b91-9a5e-c37a396c87c5" providerId="ADAL" clId="{69BD877A-DC67-4D98-AAEE-19D6FE2954BC}" dt="2026-06-14T09:43:43.174" v="269"/>
          <ac:graphicFrameMkLst>
            <pc:docMk/>
            <pc:sldMk cId="2336424290" sldId="272"/>
            <ac:graphicFrameMk id="4" creationId="{59083A13-8645-1C77-0C5C-F3D5A79465E3}"/>
          </ac:graphicFrameMkLst>
        </pc:graphicFrameChg>
      </pc:sldChg>
      <pc:sldChg chg="addSp delSp modSp new mod">
        <pc:chgData name="Yacouba Moumouni (RKB)" userId="ae3e9922-4a31-4b91-9a5e-c37a396c87c5" providerId="ADAL" clId="{69BD877A-DC67-4D98-AAEE-19D6FE2954BC}" dt="2026-06-14T09:45:01.951" v="289"/>
        <pc:sldMkLst>
          <pc:docMk/>
          <pc:sldMk cId="3926101940" sldId="273"/>
        </pc:sldMkLst>
        <pc:spChg chg="mod">
          <ac:chgData name="Yacouba Moumouni (RKB)" userId="ae3e9922-4a31-4b91-9a5e-c37a396c87c5" providerId="ADAL" clId="{69BD877A-DC67-4D98-AAEE-19D6FE2954BC}" dt="2026-06-14T09:44:11.316" v="280" actId="20577"/>
          <ac:spMkLst>
            <pc:docMk/>
            <pc:sldMk cId="3926101940" sldId="273"/>
            <ac:spMk id="2" creationId="{E87F2168-0803-312C-D265-5E31AFA30C44}"/>
          </ac:spMkLst>
        </pc:spChg>
        <pc:graphicFrameChg chg="add mod modGraphic">
          <ac:chgData name="Yacouba Moumouni (RKB)" userId="ae3e9922-4a31-4b91-9a5e-c37a396c87c5" providerId="ADAL" clId="{69BD877A-DC67-4D98-AAEE-19D6FE2954BC}" dt="2026-06-14T09:45:01.951" v="289"/>
          <ac:graphicFrameMkLst>
            <pc:docMk/>
            <pc:sldMk cId="3926101940" sldId="273"/>
            <ac:graphicFrameMk id="4" creationId="{2817006F-EA46-1A2D-BE2F-19AD1C9EE5CD}"/>
          </ac:graphicFrameMkLst>
        </pc:graphicFrameChg>
      </pc:sldChg>
      <pc:sldChg chg="addSp delSp modSp new mod modAnim modNotesTx">
        <pc:chgData name="Yacouba Moumouni (RKB)" userId="ae3e9922-4a31-4b91-9a5e-c37a396c87c5" providerId="ADAL" clId="{69BD877A-DC67-4D98-AAEE-19D6FE2954BC}" dt="2026-06-17T12:47:04.239" v="456" actId="14100"/>
        <pc:sldMkLst>
          <pc:docMk/>
          <pc:sldMk cId="303829297" sldId="274"/>
        </pc:sldMkLst>
        <pc:spChg chg="mod">
          <ac:chgData name="Yacouba Moumouni (RKB)" userId="ae3e9922-4a31-4b91-9a5e-c37a396c87c5" providerId="ADAL" clId="{69BD877A-DC67-4D98-AAEE-19D6FE2954BC}" dt="2026-06-14T13:47:30.758" v="355"/>
          <ac:spMkLst>
            <pc:docMk/>
            <pc:sldMk cId="303829297" sldId="274"/>
            <ac:spMk id="2" creationId="{0E0580F5-A68A-DBC0-861C-B678C0B45FC1}"/>
          </ac:spMkLst>
        </pc:spChg>
        <pc:spChg chg="mod">
          <ac:chgData name="Yacouba Moumouni (RKB)" userId="ae3e9922-4a31-4b91-9a5e-c37a396c87c5" providerId="ADAL" clId="{69BD877A-DC67-4D98-AAEE-19D6FE2954BC}" dt="2026-06-17T12:47:04.239" v="456" actId="14100"/>
          <ac:spMkLst>
            <pc:docMk/>
            <pc:sldMk cId="303829297" sldId="274"/>
            <ac:spMk id="3" creationId="{87A85511-ADF8-1553-73C8-C393BD5A1B0B}"/>
          </ac:spMkLst>
        </pc:spChg>
        <pc:graphicFrameChg chg="add mod modGraphic">
          <ac:chgData name="Yacouba Moumouni (RKB)" userId="ae3e9922-4a31-4b91-9a5e-c37a396c87c5" providerId="ADAL" clId="{69BD877A-DC67-4D98-AAEE-19D6FE2954BC}" dt="2026-06-14T13:54:27.735" v="420" actId="122"/>
          <ac:graphicFrameMkLst>
            <pc:docMk/>
            <pc:sldMk cId="303829297" sldId="274"/>
            <ac:graphicFrameMk id="5" creationId="{86D2B6F3-CA02-8B5C-AAA4-A057269D0A99}"/>
          </ac:graphicFrameMkLst>
        </pc:graphicFrameChg>
      </pc:sldChg>
      <pc:sldChg chg="addSp delSp modSp new mod setBg modAnim">
        <pc:chgData name="Yacouba Moumouni (RKB)" userId="ae3e9922-4a31-4b91-9a5e-c37a396c87c5" providerId="ADAL" clId="{69BD877A-DC67-4D98-AAEE-19D6FE2954BC}" dt="2026-06-14T14:05:12.638" v="454" actId="207"/>
        <pc:sldMkLst>
          <pc:docMk/>
          <pc:sldMk cId="2422297682" sldId="275"/>
        </pc:sldMkLst>
        <pc:spChg chg="mod">
          <ac:chgData name="Yacouba Moumouni (RKB)" userId="ae3e9922-4a31-4b91-9a5e-c37a396c87c5" providerId="ADAL" clId="{69BD877A-DC67-4D98-AAEE-19D6FE2954BC}" dt="2026-06-14T14:00:59.699" v="438" actId="26606"/>
          <ac:spMkLst>
            <pc:docMk/>
            <pc:sldMk cId="2422297682" sldId="275"/>
            <ac:spMk id="2" creationId="{D01FAB9F-8CE6-AA76-362E-E4076D89814A}"/>
          </ac:spMkLst>
        </pc:spChg>
        <pc:spChg chg="add mod">
          <ac:chgData name="Yacouba Moumouni (RKB)" userId="ae3e9922-4a31-4b91-9a5e-c37a396c87c5" providerId="ADAL" clId="{69BD877A-DC67-4D98-AAEE-19D6FE2954BC}" dt="2026-06-14T14:05:12.638" v="454" actId="207"/>
          <ac:spMkLst>
            <pc:docMk/>
            <pc:sldMk cId="2422297682" sldId="275"/>
            <ac:spMk id="5" creationId="{2516A6AB-E521-2F91-0F8B-BD9B1929AE3F}"/>
          </ac:spMkLst>
        </pc:spChg>
        <pc:spChg chg="add">
          <ac:chgData name="Yacouba Moumouni (RKB)" userId="ae3e9922-4a31-4b91-9a5e-c37a396c87c5" providerId="ADAL" clId="{69BD877A-DC67-4D98-AAEE-19D6FE2954BC}" dt="2026-06-14T14:00:59.699" v="438" actId="26606"/>
          <ac:spMkLst>
            <pc:docMk/>
            <pc:sldMk cId="2422297682" sldId="275"/>
            <ac:spMk id="6154" creationId="{E1CF2A21-8A04-457E-A95E-0E005AEE7D30}"/>
          </ac:spMkLst>
        </pc:spChg>
        <pc:picChg chg="add mod ord">
          <ac:chgData name="Yacouba Moumouni (RKB)" userId="ae3e9922-4a31-4b91-9a5e-c37a396c87c5" providerId="ADAL" clId="{69BD877A-DC67-4D98-AAEE-19D6FE2954BC}" dt="2026-06-14T14:00:59.699" v="438" actId="26606"/>
          <ac:picMkLst>
            <pc:docMk/>
            <pc:sldMk cId="2422297682" sldId="275"/>
            <ac:picMk id="6147" creationId="{53A5A9A8-543F-DCCB-9270-9AECFB7423F3}"/>
          </ac:picMkLst>
        </pc:picChg>
        <pc:cxnChg chg="add">
          <ac:chgData name="Yacouba Moumouni (RKB)" userId="ae3e9922-4a31-4b91-9a5e-c37a396c87c5" providerId="ADAL" clId="{69BD877A-DC67-4D98-AAEE-19D6FE2954BC}" dt="2026-06-14T14:00:59.699" v="438" actId="26606"/>
          <ac:cxnSpMkLst>
            <pc:docMk/>
            <pc:sldMk cId="2422297682" sldId="275"/>
            <ac:cxnSpMk id="6152" creationId="{358D3741-4ACF-4DA5-ABD5-0C432115CDFA}"/>
          </ac:cxnSpMkLst>
        </pc:cxnChg>
        <pc:cxnChg chg="add">
          <ac:chgData name="Yacouba Moumouni (RKB)" userId="ae3e9922-4a31-4b91-9a5e-c37a396c87c5" providerId="ADAL" clId="{69BD877A-DC67-4D98-AAEE-19D6FE2954BC}" dt="2026-06-14T14:00:59.699" v="438" actId="26606"/>
          <ac:cxnSpMkLst>
            <pc:docMk/>
            <pc:sldMk cId="2422297682" sldId="275"/>
            <ac:cxnSpMk id="6156" creationId="{8435344E-67FA-430E-A28D-6DF65F6262BB}"/>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Listings</c:v>
                </c:pt>
              </c:strCache>
            </c:strRef>
          </c:tx>
          <c:spPr>
            <a:solidFill>
              <a:srgbClr val="E8474D"/>
            </a:solidFill>
          </c:spPr>
          <c:invertIfNegative val="0"/>
          <c:dPt>
            <c:idx val="0"/>
            <c:invertIfNegative val="1"/>
            <c:bubble3D val="0"/>
            <c:extLst>
              <c:ext xmlns:c16="http://schemas.microsoft.com/office/drawing/2014/chart" uri="{C3380CC4-5D6E-409C-BE32-E72D297353CC}">
                <c16:uniqueId val="{00000001-D473-403B-83CA-A34AFEFE6328}"/>
              </c:ext>
            </c:extLst>
          </c:dPt>
          <c:dPt>
            <c:idx val="1"/>
            <c:invertIfNegative val="1"/>
            <c:bubble3D val="0"/>
            <c:spPr>
              <a:solidFill>
                <a:srgbClr val="1597B8"/>
              </a:solidFill>
            </c:spPr>
            <c:extLst>
              <c:ext xmlns:c16="http://schemas.microsoft.com/office/drawing/2014/chart" uri="{C3380CC4-5D6E-409C-BE32-E72D297353CC}">
                <c16:uniqueId val="{00000003-D473-403B-83CA-A34AFEFE6328}"/>
              </c:ext>
            </c:extLst>
          </c:dPt>
          <c:dPt>
            <c:idx val="2"/>
            <c:invertIfNegative val="1"/>
            <c:bubble3D val="0"/>
            <c:spPr>
              <a:solidFill>
                <a:srgbClr val="B07A0A"/>
              </a:solidFill>
            </c:spPr>
            <c:extLst>
              <c:ext xmlns:c16="http://schemas.microsoft.com/office/drawing/2014/chart" uri="{C3380CC4-5D6E-409C-BE32-E72D297353CC}">
                <c16:uniqueId val="{00000005-D473-403B-83CA-A34AFEFE6328}"/>
              </c:ext>
            </c:extLst>
          </c:dPt>
          <c:dLbls>
            <c:numFmt formatCode="#,##0" sourceLinked="0"/>
            <c:spPr>
              <a:noFill/>
              <a:ln>
                <a:noFill/>
              </a:ln>
              <a:effectLst/>
            </c:spPr>
            <c:txPr>
              <a:bodyPr/>
              <a:lstStyle/>
              <a:p>
                <a:pPr>
                  <a:defRPr sz="17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Entire home/apt</c:v>
                </c:pt>
                <c:pt idx="1">
                  <c:v>Private room</c:v>
                </c:pt>
                <c:pt idx="2">
                  <c:v>Shared room</c:v>
                </c:pt>
              </c:strCache>
            </c:strRef>
          </c:cat>
          <c:val>
            <c:numRef>
              <c:f>Sheet1!$B$2:$B$4</c:f>
              <c:numCache>
                <c:formatCode>General</c:formatCode>
                <c:ptCount val="3"/>
                <c:pt idx="0">
                  <c:v>25216</c:v>
                </c:pt>
                <c:pt idx="1">
                  <c:v>22273</c:v>
                </c:pt>
                <c:pt idx="2">
                  <c:v>1156</c:v>
                </c:pt>
              </c:numCache>
            </c:numRef>
          </c:val>
          <c:extLst>
            <c:ext xmlns:c16="http://schemas.microsoft.com/office/drawing/2014/chart" uri="{C3380CC4-5D6E-409C-BE32-E72D297353CC}">
              <c16:uniqueId val="{00000006-D473-403B-83CA-A34AFEFE632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7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of listings</c:v>
                </c:pt>
              </c:strCache>
            </c:strRef>
          </c:tx>
          <c:spPr>
            <a:solidFill>
              <a:srgbClr val="B0BED2"/>
            </a:solidFill>
          </c:spPr>
          <c:invertIfNegative val="0"/>
          <c:dLbls>
            <c:numFmt formatCode="0.0%" sourceLinked="0"/>
            <c:spPr>
              <a:noFill/>
              <a:ln>
                <a:noFill/>
              </a:ln>
              <a:effectLst/>
            </c:spPr>
            <c:txPr>
              <a:bodyPr/>
              <a:lstStyle/>
              <a:p>
                <a:pPr>
                  <a:defRPr sz="13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Staten Island</c:v>
                </c:pt>
              </c:strCache>
            </c:strRef>
          </c:cat>
          <c:val>
            <c:numRef>
              <c:f>Sheet1!$B$2:$B$6</c:f>
              <c:numCache>
                <c:formatCode>General</c:formatCode>
                <c:ptCount val="5"/>
                <c:pt idx="0">
                  <c:v>0.44169999999999998</c:v>
                </c:pt>
                <c:pt idx="1">
                  <c:v>0.41199999999999998</c:v>
                </c:pt>
                <c:pt idx="2">
                  <c:v>0.1163</c:v>
                </c:pt>
                <c:pt idx="3">
                  <c:v>2.24E-2</c:v>
                </c:pt>
                <c:pt idx="4">
                  <c:v>7.6E-3</c:v>
                </c:pt>
              </c:numCache>
            </c:numRef>
          </c:val>
          <c:extLst>
            <c:ext xmlns:c16="http://schemas.microsoft.com/office/drawing/2014/chart" uri="{C3380CC4-5D6E-409C-BE32-E72D297353CC}">
              <c16:uniqueId val="{00000000-F486-412C-8785-151204CD6B15}"/>
            </c:ext>
          </c:extLst>
        </c:ser>
        <c:ser>
          <c:idx val="1"/>
          <c:order val="1"/>
          <c:tx>
            <c:strRef>
              <c:f>Sheet1!$C$1</c:f>
              <c:strCache>
                <c:ptCount val="1"/>
                <c:pt idx="0">
                  <c:v>% of reviews</c:v>
                </c:pt>
              </c:strCache>
            </c:strRef>
          </c:tx>
          <c:spPr>
            <a:solidFill>
              <a:srgbClr val="2A78D6"/>
            </a:solidFill>
          </c:spPr>
          <c:invertIfNegative val="0"/>
          <c:dLbls>
            <c:numFmt formatCode="0.0%" sourceLinked="0"/>
            <c:spPr>
              <a:noFill/>
              <a:ln>
                <a:noFill/>
              </a:ln>
              <a:effectLst/>
            </c:spPr>
            <c:txPr>
              <a:bodyPr/>
              <a:lstStyle/>
              <a:p>
                <a:pPr>
                  <a:defRPr sz="13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Staten Island</c:v>
                </c:pt>
              </c:strCache>
            </c:strRef>
          </c:cat>
          <c:val>
            <c:numRef>
              <c:f>Sheet1!$C$2:$C$6</c:f>
              <c:numCache>
                <c:formatCode>General</c:formatCode>
                <c:ptCount val="5"/>
                <c:pt idx="0">
                  <c:v>0.39910000000000001</c:v>
                </c:pt>
                <c:pt idx="1">
                  <c:v>0.42770000000000002</c:v>
                </c:pt>
                <c:pt idx="2">
                  <c:v>0.1381</c:v>
                </c:pt>
                <c:pt idx="3">
                  <c:v>2.4899999999999999E-2</c:v>
                </c:pt>
                <c:pt idx="4">
                  <c:v>1.0200000000000001E-2</c:v>
                </c:pt>
              </c:numCache>
            </c:numRef>
          </c:val>
          <c:extLst>
            <c:ext xmlns:c16="http://schemas.microsoft.com/office/drawing/2014/chart" uri="{C3380CC4-5D6E-409C-BE32-E72D297353CC}">
              <c16:uniqueId val="{00000001-F486-412C-8785-151204CD6B15}"/>
            </c:ext>
          </c:extLst>
        </c:ser>
        <c:dLbls>
          <c:dLblPos val="outEnd"/>
          <c:showLegendKey val="0"/>
          <c:showVal val="1"/>
          <c:showCatName val="0"/>
          <c:showSerName val="0"/>
          <c:showPercent val="0"/>
          <c:showBubbleSize val="0"/>
        </c:dLbls>
        <c:gapWidth val="5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500"/>
          </a:pPr>
          <a:endParaRPr lang="en-US"/>
        </a:p>
      </c:txPr>
    </c:legend>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Entire home/apt</c:v>
                </c:pt>
              </c:strCache>
            </c:strRef>
          </c:tx>
          <c:spPr>
            <a:solidFill>
              <a:srgbClr val="E8474D"/>
            </a:solidFill>
          </c:spPr>
          <c:invertIfNegative val="0"/>
          <c:dLbls>
            <c:numFmt formatCode="&quot;$&quot;#,##0" sourceLinked="0"/>
            <c:spPr>
              <a:noFill/>
              <a:ln>
                <a:noFill/>
              </a:ln>
              <a:effectLst/>
            </c:spPr>
            <c:txPr>
              <a:bodyPr/>
              <a:lstStyle/>
              <a:p>
                <a:pPr>
                  <a:defRPr sz="12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Staten Island</c:v>
                </c:pt>
              </c:strCache>
            </c:strRef>
          </c:cat>
          <c:val>
            <c:numRef>
              <c:f>Sheet1!$B$2:$B$6</c:f>
              <c:numCache>
                <c:formatCode>General</c:formatCode>
                <c:ptCount val="5"/>
                <c:pt idx="0">
                  <c:v>190</c:v>
                </c:pt>
                <c:pt idx="1">
                  <c:v>145</c:v>
                </c:pt>
                <c:pt idx="2">
                  <c:v>120</c:v>
                </c:pt>
                <c:pt idx="3">
                  <c:v>100</c:v>
                </c:pt>
                <c:pt idx="4">
                  <c:v>100</c:v>
                </c:pt>
              </c:numCache>
            </c:numRef>
          </c:val>
          <c:extLst>
            <c:ext xmlns:c16="http://schemas.microsoft.com/office/drawing/2014/chart" uri="{C3380CC4-5D6E-409C-BE32-E72D297353CC}">
              <c16:uniqueId val="{00000000-D44D-4745-B7B9-3BF6C3A5DD9B}"/>
            </c:ext>
          </c:extLst>
        </c:ser>
        <c:ser>
          <c:idx val="1"/>
          <c:order val="1"/>
          <c:tx>
            <c:strRef>
              <c:f>Sheet1!$C$1</c:f>
              <c:strCache>
                <c:ptCount val="1"/>
                <c:pt idx="0">
                  <c:v>Private room</c:v>
                </c:pt>
              </c:strCache>
            </c:strRef>
          </c:tx>
          <c:spPr>
            <a:solidFill>
              <a:srgbClr val="1597B8"/>
            </a:solidFill>
          </c:spPr>
          <c:invertIfNegative val="0"/>
          <c:dLbls>
            <c:numFmt formatCode="&quot;$&quot;#,##0" sourceLinked="0"/>
            <c:spPr>
              <a:noFill/>
              <a:ln>
                <a:noFill/>
              </a:ln>
              <a:effectLst/>
            </c:spPr>
            <c:txPr>
              <a:bodyPr/>
              <a:lstStyle/>
              <a:p>
                <a:pPr>
                  <a:defRPr sz="12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Staten Island</c:v>
                </c:pt>
              </c:strCache>
            </c:strRef>
          </c:cat>
          <c:val>
            <c:numRef>
              <c:f>Sheet1!$C$2:$C$6</c:f>
              <c:numCache>
                <c:formatCode>General</c:formatCode>
                <c:ptCount val="5"/>
                <c:pt idx="0">
                  <c:v>90</c:v>
                </c:pt>
                <c:pt idx="1">
                  <c:v>65</c:v>
                </c:pt>
                <c:pt idx="2">
                  <c:v>60</c:v>
                </c:pt>
                <c:pt idx="3">
                  <c:v>53.5</c:v>
                </c:pt>
                <c:pt idx="4">
                  <c:v>50</c:v>
                </c:pt>
              </c:numCache>
            </c:numRef>
          </c:val>
          <c:extLst>
            <c:ext xmlns:c16="http://schemas.microsoft.com/office/drawing/2014/chart" uri="{C3380CC4-5D6E-409C-BE32-E72D297353CC}">
              <c16:uniqueId val="{00000001-D44D-4745-B7B9-3BF6C3A5DD9B}"/>
            </c:ext>
          </c:extLst>
        </c:ser>
        <c:ser>
          <c:idx val="2"/>
          <c:order val="2"/>
          <c:tx>
            <c:strRef>
              <c:f>Sheet1!$D$1</c:f>
              <c:strCache>
                <c:ptCount val="1"/>
                <c:pt idx="0">
                  <c:v>Shared room</c:v>
                </c:pt>
              </c:strCache>
            </c:strRef>
          </c:tx>
          <c:spPr>
            <a:solidFill>
              <a:srgbClr val="B07A0A"/>
            </a:solidFill>
          </c:spPr>
          <c:invertIfNegative val="0"/>
          <c:dLbls>
            <c:numFmt formatCode="&quot;$&quot;#,##0" sourceLinked="0"/>
            <c:spPr>
              <a:noFill/>
              <a:ln>
                <a:noFill/>
              </a:ln>
              <a:effectLst/>
            </c:spPr>
            <c:txPr>
              <a:bodyPr/>
              <a:lstStyle/>
              <a:p>
                <a:pPr>
                  <a:defRPr sz="12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Manhattan</c:v>
                </c:pt>
                <c:pt idx="1">
                  <c:v>Brooklyn</c:v>
                </c:pt>
                <c:pt idx="2">
                  <c:v>Queens</c:v>
                </c:pt>
                <c:pt idx="3">
                  <c:v>Bronx</c:v>
                </c:pt>
                <c:pt idx="4">
                  <c:v>Staten Island</c:v>
                </c:pt>
              </c:strCache>
            </c:strRef>
          </c:cat>
          <c:val>
            <c:numRef>
              <c:f>Sheet1!$D$2:$D$6</c:f>
              <c:numCache>
                <c:formatCode>General</c:formatCode>
                <c:ptCount val="5"/>
                <c:pt idx="0">
                  <c:v>69</c:v>
                </c:pt>
                <c:pt idx="1">
                  <c:v>36</c:v>
                </c:pt>
                <c:pt idx="2">
                  <c:v>37</c:v>
                </c:pt>
                <c:pt idx="3">
                  <c:v>40</c:v>
                </c:pt>
                <c:pt idx="4">
                  <c:v>30</c:v>
                </c:pt>
              </c:numCache>
            </c:numRef>
          </c:val>
          <c:extLst>
            <c:ext xmlns:c16="http://schemas.microsoft.com/office/drawing/2014/chart" uri="{C3380CC4-5D6E-409C-BE32-E72D297353CC}">
              <c16:uniqueId val="{00000002-D44D-4745-B7B9-3BF6C3A5DD9B}"/>
            </c:ext>
          </c:extLst>
        </c:ser>
        <c:dLbls>
          <c:dLblPos val="outEnd"/>
          <c:showLegendKey val="0"/>
          <c:showVal val="1"/>
          <c:showCatName val="0"/>
          <c:showSerName val="0"/>
          <c:showPercent val="0"/>
          <c:showBubbleSize val="0"/>
        </c:dLbls>
        <c:gapWidth val="45"/>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500"/>
          </a:pPr>
          <a:endParaRPr lang="en-US"/>
        </a:p>
      </c:txPr>
    </c:legend>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Never reviewed</c:v>
                </c:pt>
              </c:strCache>
            </c:strRef>
          </c:tx>
          <c:spPr>
            <a:solidFill>
              <a:srgbClr val="0E3A73"/>
            </a:solidFill>
          </c:spPr>
          <c:invertIfNegative val="0"/>
          <c:dLbls>
            <c:numFmt formatCode="0%" sourceLinked="0"/>
            <c:spPr>
              <a:noFill/>
              <a:ln>
                <a:noFill/>
              </a:ln>
              <a:effectLst/>
            </c:spPr>
            <c:txPr>
              <a:bodyPr/>
              <a:lstStyle/>
              <a:p>
                <a:pPr>
                  <a:defRPr sz="15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&lt; $50</c:v>
                </c:pt>
                <c:pt idx="1">
                  <c:v>$50-99</c:v>
                </c:pt>
                <c:pt idx="2">
                  <c:v>$100-149</c:v>
                </c:pt>
                <c:pt idx="3">
                  <c:v>$150-199</c:v>
                </c:pt>
                <c:pt idx="4">
                  <c:v>$200-299</c:v>
                </c:pt>
                <c:pt idx="5">
                  <c:v>$300-499</c:v>
                </c:pt>
                <c:pt idx="6">
                  <c:v>$500-1,000</c:v>
                </c:pt>
              </c:strCache>
            </c:strRef>
          </c:cat>
          <c:val>
            <c:numRef>
              <c:f>Sheet1!$B$2:$B$8</c:f>
              <c:numCache>
                <c:formatCode>General</c:formatCode>
                <c:ptCount val="7"/>
                <c:pt idx="0">
                  <c:v>0.20630000000000001</c:v>
                </c:pt>
                <c:pt idx="1">
                  <c:v>0.1757</c:v>
                </c:pt>
                <c:pt idx="2">
                  <c:v>0.1784</c:v>
                </c:pt>
                <c:pt idx="3">
                  <c:v>0.19420000000000001</c:v>
                </c:pt>
                <c:pt idx="4">
                  <c:v>0.25769999999999998</c:v>
                </c:pt>
                <c:pt idx="5">
                  <c:v>0.31900000000000001</c:v>
                </c:pt>
                <c:pt idx="6">
                  <c:v>0.36849999999999999</c:v>
                </c:pt>
              </c:numCache>
            </c:numRef>
          </c:val>
          <c:extLst>
            <c:ext xmlns:c16="http://schemas.microsoft.com/office/drawing/2014/chart" uri="{C3380CC4-5D6E-409C-BE32-E72D297353CC}">
              <c16:uniqueId val="{00000000-FAA5-43BD-9C2B-EEDA6781E01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Effect</c:v>
                </c:pt>
              </c:strCache>
            </c:strRef>
          </c:tx>
          <c:spPr>
            <a:solidFill>
              <a:srgbClr val="2A78D6"/>
            </a:solidFill>
          </c:spPr>
          <c:invertIfNegative val="0"/>
          <c:dPt>
            <c:idx val="0"/>
            <c:invertIfNegative val="1"/>
            <c:bubble3D val="0"/>
            <c:spPr>
              <a:solidFill>
                <a:srgbClr val="2A78D6"/>
              </a:solidFill>
            </c:spPr>
            <c:extLst>
              <c:ext xmlns:c16="http://schemas.microsoft.com/office/drawing/2014/chart" uri="{C3380CC4-5D6E-409C-BE32-E72D297353CC}">
                <c16:uniqueId val="{00000001-FADA-4731-93EC-771ECB7EB7DF}"/>
              </c:ext>
            </c:extLst>
          </c:dPt>
          <c:dPt>
            <c:idx val="1"/>
            <c:invertIfNegative val="1"/>
            <c:bubble3D val="0"/>
            <c:spPr>
              <a:solidFill>
                <a:srgbClr val="2A78D6"/>
              </a:solidFill>
            </c:spPr>
            <c:extLst>
              <c:ext xmlns:c16="http://schemas.microsoft.com/office/drawing/2014/chart" uri="{C3380CC4-5D6E-409C-BE32-E72D297353CC}">
                <c16:uniqueId val="{00000003-FADA-4731-93EC-771ECB7EB7DF}"/>
              </c:ext>
            </c:extLst>
          </c:dPt>
          <c:dPt>
            <c:idx val="2"/>
            <c:invertIfNegative val="1"/>
            <c:bubble3D val="0"/>
            <c:spPr>
              <a:solidFill>
                <a:srgbClr val="2A78D6"/>
              </a:solidFill>
            </c:spPr>
            <c:extLst>
              <c:ext xmlns:c16="http://schemas.microsoft.com/office/drawing/2014/chart" uri="{C3380CC4-5D6E-409C-BE32-E72D297353CC}">
                <c16:uniqueId val="{00000005-FADA-4731-93EC-771ECB7EB7DF}"/>
              </c:ext>
            </c:extLst>
          </c:dPt>
          <c:dPt>
            <c:idx val="3"/>
            <c:invertIfNegative val="1"/>
            <c:bubble3D val="0"/>
            <c:spPr>
              <a:solidFill>
                <a:srgbClr val="2A78D6"/>
              </a:solidFill>
            </c:spPr>
            <c:extLst>
              <c:ext xmlns:c16="http://schemas.microsoft.com/office/drawing/2014/chart" uri="{C3380CC4-5D6E-409C-BE32-E72D297353CC}">
                <c16:uniqueId val="{00000007-FADA-4731-93EC-771ECB7EB7DF}"/>
              </c:ext>
            </c:extLst>
          </c:dPt>
          <c:dPt>
            <c:idx val="4"/>
            <c:invertIfNegative val="1"/>
            <c:bubble3D val="0"/>
            <c:spPr>
              <a:solidFill>
                <a:srgbClr val="B0BED2"/>
              </a:solidFill>
            </c:spPr>
            <c:extLst>
              <c:ext xmlns:c16="http://schemas.microsoft.com/office/drawing/2014/chart" uri="{C3380CC4-5D6E-409C-BE32-E72D297353CC}">
                <c16:uniqueId val="{00000009-FADA-4731-93EC-771ECB7EB7DF}"/>
              </c:ext>
            </c:extLst>
          </c:dPt>
          <c:dPt>
            <c:idx val="5"/>
            <c:invertIfNegative val="1"/>
            <c:bubble3D val="0"/>
            <c:spPr>
              <a:solidFill>
                <a:srgbClr val="D03B3B"/>
              </a:solidFill>
            </c:spPr>
            <c:extLst>
              <c:ext xmlns:c16="http://schemas.microsoft.com/office/drawing/2014/chart" uri="{C3380CC4-5D6E-409C-BE32-E72D297353CC}">
                <c16:uniqueId val="{0000000B-FADA-4731-93EC-771ECB7EB7DF}"/>
              </c:ext>
            </c:extLst>
          </c:dPt>
          <c:dPt>
            <c:idx val="6"/>
            <c:invertIfNegative val="1"/>
            <c:bubble3D val="0"/>
            <c:spPr>
              <a:solidFill>
                <a:srgbClr val="D03B3B"/>
              </a:solidFill>
            </c:spPr>
            <c:extLst>
              <c:ext xmlns:c16="http://schemas.microsoft.com/office/drawing/2014/chart" uri="{C3380CC4-5D6E-409C-BE32-E72D297353CC}">
                <c16:uniqueId val="{0000000D-FADA-4731-93EC-771ECB7EB7DF}"/>
              </c:ext>
            </c:extLst>
          </c:dPt>
          <c:dPt>
            <c:idx val="7"/>
            <c:invertIfNegative val="1"/>
            <c:bubble3D val="0"/>
            <c:spPr>
              <a:solidFill>
                <a:srgbClr val="D03B3B"/>
              </a:solidFill>
            </c:spPr>
            <c:extLst>
              <c:ext xmlns:c16="http://schemas.microsoft.com/office/drawing/2014/chart" uri="{C3380CC4-5D6E-409C-BE32-E72D297353CC}">
                <c16:uniqueId val="{0000000F-FADA-4731-93EC-771ECB7EB7DF}"/>
              </c:ext>
            </c:extLst>
          </c:dPt>
          <c:dPt>
            <c:idx val="8"/>
            <c:invertIfNegative val="1"/>
            <c:bubble3D val="0"/>
            <c:spPr>
              <a:solidFill>
                <a:srgbClr val="D03B3B"/>
              </a:solidFill>
            </c:spPr>
            <c:extLst>
              <c:ext xmlns:c16="http://schemas.microsoft.com/office/drawing/2014/chart" uri="{C3380CC4-5D6E-409C-BE32-E72D297353CC}">
                <c16:uniqueId val="{00000011-FADA-4731-93EC-771ECB7EB7DF}"/>
              </c:ext>
            </c:extLst>
          </c:dPt>
          <c:dPt>
            <c:idx val="9"/>
            <c:invertIfNegative val="1"/>
            <c:bubble3D val="0"/>
            <c:spPr>
              <a:solidFill>
                <a:srgbClr val="D03B3B"/>
              </a:solidFill>
            </c:spPr>
            <c:extLst>
              <c:ext xmlns:c16="http://schemas.microsoft.com/office/drawing/2014/chart" uri="{C3380CC4-5D6E-409C-BE32-E72D297353CC}">
                <c16:uniqueId val="{00000013-FADA-4731-93EC-771ECB7EB7DF}"/>
              </c:ext>
            </c:extLst>
          </c:dPt>
          <c:dLbls>
            <c:numFmt formatCode="\+0%;\-0%;0%" sourceLinked="0"/>
            <c:spPr>
              <a:noFill/>
              <a:ln>
                <a:noFill/>
              </a:ln>
              <a:effectLst/>
            </c:spPr>
            <c:txPr>
              <a:bodyPr/>
              <a:lstStyle/>
              <a:p>
                <a:pPr>
                  <a:defRPr sz="14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Entire home vs private room</c:v>
                </c:pt>
                <c:pt idx="1">
                  <c:v>Manhattan vs Brooklyn</c:v>
                </c:pt>
                <c:pt idx="2">
                  <c:v>Open 271-365 days vs closed</c:v>
                </c:pt>
                <c:pt idx="3">
                  <c:v>Open 1-90 days vs closed</c:v>
                </c:pt>
                <c:pt idx="4">
                  <c:v>Host with 6+ listings</c:v>
                </c:pt>
                <c:pt idx="5">
                  <c:v>Queens vs Brooklyn</c:v>
                </c:pt>
                <c:pt idx="6">
                  <c:v>7-29 night minimum</c:v>
                </c:pt>
                <c:pt idx="7">
                  <c:v>Bronx vs Brooklyn</c:v>
                </c:pt>
                <c:pt idx="8">
                  <c:v>30+ night minimum</c:v>
                </c:pt>
                <c:pt idx="9">
                  <c:v>Shared vs private room</c:v>
                </c:pt>
              </c:strCache>
            </c:strRef>
          </c:cat>
          <c:val>
            <c:numRef>
              <c:f>Sheet1!$B$2:$B$11</c:f>
              <c:numCache>
                <c:formatCode>General</c:formatCode>
                <c:ptCount val="10"/>
                <c:pt idx="0">
                  <c:v>1.19</c:v>
                </c:pt>
                <c:pt idx="1">
                  <c:v>0.37</c:v>
                </c:pt>
                <c:pt idx="2">
                  <c:v>0.34</c:v>
                </c:pt>
                <c:pt idx="3">
                  <c:v>0.13</c:v>
                </c:pt>
                <c:pt idx="4">
                  <c:v>0</c:v>
                </c:pt>
                <c:pt idx="5">
                  <c:v>-0.13</c:v>
                </c:pt>
                <c:pt idx="6">
                  <c:v>-0.18</c:v>
                </c:pt>
                <c:pt idx="7">
                  <c:v>-0.24</c:v>
                </c:pt>
                <c:pt idx="8">
                  <c:v>-0.26</c:v>
                </c:pt>
                <c:pt idx="9">
                  <c:v>-0.33</c:v>
                </c:pt>
              </c:numCache>
            </c:numRef>
          </c:val>
          <c:extLst>
            <c:ext xmlns:c16="http://schemas.microsoft.com/office/drawing/2014/chart" uri="{C3380CC4-5D6E-409C-BE32-E72D297353CC}">
              <c16:uniqueId val="{00000014-FADA-4731-93EC-771ECB7EB7DF}"/>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BFBFBF"/>
            </a:solidFill>
          </a:ln>
        </c:spPr>
        <c:txPr>
          <a:bodyPr/>
          <a:lstStyle/>
          <a:p>
            <a:pPr>
              <a:defRPr sz="14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Share of hosts</c:v>
                </c:pt>
              </c:strCache>
            </c:strRef>
          </c:tx>
          <c:spPr>
            <a:solidFill>
              <a:srgbClr val="B0BED2"/>
            </a:solidFill>
          </c:spPr>
          <c:invertIfNegative val="0"/>
          <c:dLbls>
            <c:numFmt formatCode="0%" sourceLinked="0"/>
            <c:spPr>
              <a:noFill/>
              <a:ln>
                <a:noFill/>
              </a:ln>
              <a:effectLst/>
            </c:spPr>
            <c:txPr>
              <a:bodyPr/>
              <a:lstStyle/>
              <a:p>
                <a:pPr>
                  <a:defRPr sz="15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listing</c:v>
                </c:pt>
                <c:pt idx="1">
                  <c:v>2-5 listings</c:v>
                </c:pt>
                <c:pt idx="2">
                  <c:v>6+ listings</c:v>
                </c:pt>
              </c:strCache>
            </c:strRef>
          </c:cat>
          <c:val>
            <c:numRef>
              <c:f>Sheet1!$B$2:$B$4</c:f>
              <c:numCache>
                <c:formatCode>General</c:formatCode>
                <c:ptCount val="3"/>
                <c:pt idx="0">
                  <c:v>0.8619</c:v>
                </c:pt>
                <c:pt idx="1">
                  <c:v>0.12889999999999999</c:v>
                </c:pt>
                <c:pt idx="2">
                  <c:v>9.1999999999999998E-3</c:v>
                </c:pt>
              </c:numCache>
            </c:numRef>
          </c:val>
          <c:extLst>
            <c:ext xmlns:c16="http://schemas.microsoft.com/office/drawing/2014/chart" uri="{C3380CC4-5D6E-409C-BE32-E72D297353CC}">
              <c16:uniqueId val="{00000000-1BC1-4C82-9396-0E76CF05878A}"/>
            </c:ext>
          </c:extLst>
        </c:ser>
        <c:ser>
          <c:idx val="1"/>
          <c:order val="1"/>
          <c:tx>
            <c:strRef>
              <c:f>Sheet1!$C$1</c:f>
              <c:strCache>
                <c:ptCount val="1"/>
                <c:pt idx="0">
                  <c:v>Share of listings</c:v>
                </c:pt>
              </c:strCache>
            </c:strRef>
          </c:tx>
          <c:spPr>
            <a:solidFill>
              <a:srgbClr val="2A78D6"/>
            </a:solidFill>
          </c:spPr>
          <c:invertIfNegative val="0"/>
          <c:dLbls>
            <c:numFmt formatCode="0%" sourceLinked="0"/>
            <c:spPr>
              <a:noFill/>
              <a:ln>
                <a:noFill/>
              </a:ln>
              <a:effectLst/>
            </c:spPr>
            <c:txPr>
              <a:bodyPr/>
              <a:lstStyle/>
              <a:p>
                <a:pPr>
                  <a:defRPr sz="15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listing</c:v>
                </c:pt>
                <c:pt idx="1">
                  <c:v>2-5 listings</c:v>
                </c:pt>
                <c:pt idx="2">
                  <c:v>6+ listings</c:v>
                </c:pt>
              </c:strCache>
            </c:strRef>
          </c:cat>
          <c:val>
            <c:numRef>
              <c:f>Sheet1!$C$2:$C$4</c:f>
              <c:numCache>
                <c:formatCode>General</c:formatCode>
                <c:ptCount val="3"/>
                <c:pt idx="0">
                  <c:v>0.66059999999999997</c:v>
                </c:pt>
                <c:pt idx="1">
                  <c:v>0.24160000000000001</c:v>
                </c:pt>
                <c:pt idx="2">
                  <c:v>9.7699999999999995E-2</c:v>
                </c:pt>
              </c:numCache>
            </c:numRef>
          </c:val>
          <c:extLst>
            <c:ext xmlns:c16="http://schemas.microsoft.com/office/drawing/2014/chart" uri="{C3380CC4-5D6E-409C-BE32-E72D297353CC}">
              <c16:uniqueId val="{00000001-1BC1-4C82-9396-0E76CF05878A}"/>
            </c:ext>
          </c:extLst>
        </c:ser>
        <c:dLbls>
          <c:dLblPos val="outEnd"/>
          <c:showLegendKey val="0"/>
          <c:showVal val="1"/>
          <c:showCatName val="0"/>
          <c:showSerName val="0"/>
          <c:showPercent val="0"/>
          <c:showBubbleSize val="0"/>
        </c:dLbls>
        <c:gapWidth val="5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500"/>
          </a:pPr>
          <a:endParaRPr lang="en-US"/>
        </a:p>
      </c:txPr>
    </c:legend>
    <c:plotVisOnly val="1"/>
    <c:dispBlanksAs val="gap"/>
    <c:showDLblsOverMax val="1"/>
  </c:chart>
  <c:txPr>
    <a:bodyPr/>
    <a:lstStyle/>
    <a:p>
      <a:pPr>
        <a:defRPr sz="1400">
          <a:solidFill>
            <a:srgbClr val="1A1A1A"/>
          </a:solidFill>
          <a:latin typeface="Tw Cen M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A2E21-9409-4B17-950D-3D0C8F4DAFC5}"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ADBAD-5D9B-4105-9DF0-BE53020B5BA6}" type="slidenum">
              <a:rPr lang="en-US" smtClean="0"/>
              <a:t>‹#›</a:t>
            </a:fld>
            <a:endParaRPr lang="en-US"/>
          </a:p>
        </p:txBody>
      </p:sp>
    </p:spTree>
    <p:extLst>
      <p:ext uri="{BB962C8B-B14F-4D97-AF65-F5344CB8AC3E}">
        <p14:creationId xmlns:p14="http://schemas.microsoft.com/office/powerpoint/2010/main" val="2833414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99119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3136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27316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758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5082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2824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201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5404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172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884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2533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217C01CDF565}" type="slidenum">
              <a:rPr lang="en-US" smtClean="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66536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tle_bg.jpg"/>
          <p:cNvPicPr>
            <a:picLocks noChangeAspect="1"/>
          </p:cNvPicPr>
          <p:nvPr/>
        </p:nvPicPr>
        <p:blipFill>
          <a:blip r:embed="rId2"/>
          <a:stretch>
            <a:fillRect/>
          </a:stretch>
        </p:blipFill>
        <p:spPr>
          <a:xfrm>
            <a:off x="0" y="0"/>
            <a:ext cx="12192001" cy="6858000"/>
          </a:xfrm>
          <a:prstGeom prst="rect">
            <a:avLst/>
          </a:prstGeom>
        </p:spPr>
      </p:pic>
      <p:sp>
        <p:nvSpPr>
          <p:cNvPr id="5" name="TextBox 4"/>
          <p:cNvSpPr txBox="1"/>
          <p:nvPr/>
        </p:nvSpPr>
        <p:spPr>
          <a:xfrm>
            <a:off x="527064" y="2180844"/>
            <a:ext cx="6217920" cy="822960"/>
          </a:xfrm>
          <a:prstGeom prst="rect">
            <a:avLst/>
          </a:prstGeom>
          <a:noFill/>
        </p:spPr>
        <p:txBody>
          <a:bodyPr wrap="square" lIns="0" tIns="0" rIns="0" bIns="0" anchor="t">
            <a:spAutoFit/>
          </a:bodyPr>
          <a:lstStyle/>
          <a:p>
            <a:pPr algn="l"/>
            <a:r>
              <a:rPr sz="4400" b="1" dirty="0">
                <a:solidFill>
                  <a:srgbClr val="455F51"/>
                </a:solidFill>
                <a:latin typeface="Tw Cen MT Condensed"/>
              </a:rPr>
              <a:t>NYC AIRBNB MARKET</a:t>
            </a:r>
          </a:p>
        </p:txBody>
      </p:sp>
      <p:sp>
        <p:nvSpPr>
          <p:cNvPr id="6" name="TextBox 5"/>
          <p:cNvSpPr txBox="1"/>
          <p:nvPr/>
        </p:nvSpPr>
        <p:spPr>
          <a:xfrm>
            <a:off x="527064" y="2795778"/>
            <a:ext cx="5394960" cy="914400"/>
          </a:xfrm>
          <a:prstGeom prst="rect">
            <a:avLst/>
          </a:prstGeom>
          <a:noFill/>
        </p:spPr>
        <p:txBody>
          <a:bodyPr wrap="square" lIns="0" tIns="0" rIns="0" bIns="0" anchor="t">
            <a:spAutoFit/>
          </a:bodyPr>
          <a:lstStyle/>
          <a:p>
            <a:pPr algn="l"/>
            <a:r>
              <a:rPr sz="2200" b="0" dirty="0">
                <a:solidFill>
                  <a:srgbClr val="1A1A1A"/>
                </a:solidFill>
                <a:latin typeface="Tw Cen MT"/>
              </a:rPr>
              <a:t>Where, what and at which price? Listing types, areas, prices, demand and hosts of New York City, 2019.</a:t>
            </a:r>
          </a:p>
        </p:txBody>
      </p:sp>
      <p:sp>
        <p:nvSpPr>
          <p:cNvPr id="7" name="Rectangle 6"/>
          <p:cNvSpPr/>
          <p:nvPr/>
        </p:nvSpPr>
        <p:spPr>
          <a:xfrm>
            <a:off x="527064" y="3918204"/>
            <a:ext cx="868680" cy="27432"/>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5624" y="4194810"/>
            <a:ext cx="6309360" cy="329184"/>
          </a:xfrm>
          <a:prstGeom prst="rect">
            <a:avLst/>
          </a:prstGeom>
          <a:noFill/>
        </p:spPr>
        <p:txBody>
          <a:bodyPr wrap="square" lIns="0" tIns="0" rIns="0" bIns="0" anchor="t">
            <a:spAutoFit/>
          </a:bodyPr>
          <a:lstStyle/>
          <a:p>
            <a:pPr algn="l"/>
            <a:r>
              <a:rPr sz="1700" b="1" dirty="0">
                <a:solidFill>
                  <a:srgbClr val="455F51"/>
                </a:solidFill>
                <a:latin typeface="Tw Cen MT"/>
              </a:rPr>
              <a:t>Task 12</a:t>
            </a:r>
            <a:r>
              <a:rPr sz="1700" b="0" dirty="0">
                <a:solidFill>
                  <a:srgbClr val="455F51"/>
                </a:solidFill>
                <a:latin typeface="Tw Cen MT"/>
              </a:rPr>
              <a:t>   |   48,645 listings   |   5 boroughs   |   221 neighbourhoods</a:t>
            </a:r>
          </a:p>
        </p:txBody>
      </p:sp>
      <p:sp>
        <p:nvSpPr>
          <p:cNvPr id="9" name="TextBox 8"/>
          <p:cNvSpPr txBox="1"/>
          <p:nvPr/>
        </p:nvSpPr>
        <p:spPr>
          <a:xfrm>
            <a:off x="502919" y="4783455"/>
            <a:ext cx="5878629" cy="553998"/>
          </a:xfrm>
          <a:prstGeom prst="rect">
            <a:avLst/>
          </a:prstGeom>
          <a:noFill/>
        </p:spPr>
        <p:txBody>
          <a:bodyPr wrap="square" lIns="0" tIns="0" rIns="0" bIns="0" anchor="t">
            <a:spAutoFit/>
          </a:bodyPr>
          <a:lstStyle/>
          <a:p>
            <a:pPr algn="l"/>
            <a:r>
              <a:rPr sz="2000" b="1" dirty="0">
                <a:solidFill>
                  <a:srgbClr val="1A1A1A"/>
                </a:solidFill>
                <a:latin typeface="Tw Cen MT"/>
              </a:rPr>
              <a:t>KOUAME Koffi Fidèle</a:t>
            </a:r>
          </a:p>
        </p:txBody>
      </p:sp>
      <p:sp>
        <p:nvSpPr>
          <p:cNvPr id="10" name="TextBox 9"/>
          <p:cNvSpPr txBox="1"/>
          <p:nvPr/>
        </p:nvSpPr>
        <p:spPr>
          <a:xfrm>
            <a:off x="502920" y="5632704"/>
            <a:ext cx="6309360" cy="274320"/>
          </a:xfrm>
          <a:prstGeom prst="rect">
            <a:avLst/>
          </a:prstGeom>
          <a:noFill/>
        </p:spPr>
        <p:txBody>
          <a:bodyPr wrap="square" lIns="0" tIns="0" rIns="0" bIns="0" anchor="t">
            <a:spAutoFit/>
          </a:bodyPr>
          <a:lstStyle/>
          <a:p>
            <a:pPr algn="l"/>
            <a:r>
              <a:rPr sz="1400" b="0">
                <a:solidFill>
                  <a:srgbClr val="595959"/>
                </a:solidFill>
                <a:latin typeface="Tw Cen MT"/>
              </a:rPr>
              <a:t>Data Analysis Internship   |   Final project   |   October 2026</a:t>
            </a:r>
          </a:p>
        </p:txBody>
      </p:sp>
      <p:sp>
        <p:nvSpPr>
          <p:cNvPr id="11" name="TextBox 8"/>
          <p:cNvSpPr txBox="1"/>
          <p:nvPr/>
        </p:nvSpPr>
        <p:spPr>
          <a:xfrm>
            <a:off x="502920" y="6547104"/>
            <a:ext cx="7772400" cy="219456"/>
          </a:xfrm>
          <a:prstGeom prst="rect">
            <a:avLst/>
          </a:prstGeom>
          <a:noFill/>
        </p:spPr>
        <p:txBody>
          <a:bodyPr wrap="square" lIns="0" tIns="0" rIns="0" bIns="0" anchor="t">
            <a:spAutoFit/>
          </a:bodyPr>
          <a:lstStyle/>
          <a:p>
            <a:pPr algn="l"/>
            <a:r>
              <a:rPr sz="950" b="0">
                <a:solidFill>
                  <a:srgbClr val="595959"/>
                </a:solidFill>
                <a:latin typeface="Tw Cen MT"/>
              </a:rPr>
              <a:t>Map and listings: the dataset supplied for the project (New York City, 2019), coloured by borough.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Roadmap: one dataset, seven questions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From the raw file to a dashboard and recommendations, every number reproducible.</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OUTLINE</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2</a:t>
            </a:fld>
            <a:endParaRPr sz="1200" b="0" i="0">
              <a:solidFill>
                <a:srgbClr val="595959"/>
              </a:solidFill>
              <a:latin typeface="Tw Cen MT"/>
            </a:endParaRPr>
          </a:p>
        </p:txBody>
      </p:sp>
      <p:sp>
        <p:nvSpPr>
          <p:cNvPr id="8" name="Rounded Rectangle 7"/>
          <p:cNvSpPr/>
          <p:nvPr/>
        </p:nvSpPr>
        <p:spPr>
          <a:xfrm>
            <a:off x="1024128" y="1600200"/>
            <a:ext cx="2331720" cy="388620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1783080"/>
            <a:ext cx="1965960" cy="640080"/>
          </a:xfrm>
          <a:prstGeom prst="rect">
            <a:avLst/>
          </a:prstGeom>
          <a:noFill/>
        </p:spPr>
        <p:txBody>
          <a:bodyPr wrap="square" lIns="0" tIns="0" rIns="0" bIns="0" anchor="t">
            <a:spAutoFit/>
          </a:bodyPr>
          <a:lstStyle/>
          <a:p>
            <a:pPr algn="l">
              <a:spcAft>
                <a:spcPts val="400"/>
              </a:spcAft>
            </a:pPr>
            <a:r>
              <a:rPr sz="4000" b="1" i="0">
                <a:solidFill>
                  <a:srgbClr val="63A537"/>
                </a:solidFill>
                <a:latin typeface="Tw Cen MT Condensed"/>
              </a:rPr>
              <a:t>01</a:t>
            </a:r>
          </a:p>
        </p:txBody>
      </p:sp>
      <p:sp>
        <p:nvSpPr>
          <p:cNvPr id="10" name="TextBox 9"/>
          <p:cNvSpPr txBox="1"/>
          <p:nvPr/>
        </p:nvSpPr>
        <p:spPr>
          <a:xfrm>
            <a:off x="1252728" y="2560320"/>
            <a:ext cx="1965960" cy="822960"/>
          </a:xfrm>
          <a:prstGeom prst="rect">
            <a:avLst/>
          </a:prstGeom>
          <a:noFill/>
        </p:spPr>
        <p:txBody>
          <a:bodyPr wrap="square" lIns="0" tIns="0" rIns="0" bIns="0" anchor="t">
            <a:spAutoFit/>
          </a:bodyPr>
          <a:lstStyle/>
          <a:p>
            <a:pPr algn="l">
              <a:spcAft>
                <a:spcPts val="400"/>
              </a:spcAft>
            </a:pPr>
            <a:r>
              <a:rPr sz="2200" b="1" i="0">
                <a:solidFill>
                  <a:srgbClr val="1A1A1A"/>
                </a:solidFill>
                <a:latin typeface="Tw Cen MT"/>
              </a:rPr>
              <a:t>Data and cleaning</a:t>
            </a:r>
          </a:p>
        </p:txBody>
      </p:sp>
      <p:sp>
        <p:nvSpPr>
          <p:cNvPr id="11" name="TextBox 10"/>
          <p:cNvSpPr txBox="1"/>
          <p:nvPr/>
        </p:nvSpPr>
        <p:spPr>
          <a:xfrm>
            <a:off x="1252728" y="3429000"/>
            <a:ext cx="1965960" cy="1828800"/>
          </a:xfrm>
          <a:prstGeom prst="rect">
            <a:avLst/>
          </a:prstGeom>
          <a:noFill/>
        </p:spPr>
        <p:txBody>
          <a:bodyPr wrap="square" lIns="0" tIns="0" rIns="0" bIns="0" anchor="t">
            <a:spAutoFit/>
          </a:bodyPr>
          <a:lstStyle/>
          <a:p>
            <a:pPr algn="l">
              <a:spcAft>
                <a:spcPts val="400"/>
              </a:spcAft>
            </a:pPr>
            <a:r>
              <a:rPr sz="1800" b="0" i="0">
                <a:solidFill>
                  <a:srgbClr val="595959"/>
                </a:solidFill>
                <a:latin typeface="Tw Cen MT"/>
              </a:rPr>
              <a:t>48,895 listings, 16 columns; audit and 10 logged steps</a:t>
            </a:r>
          </a:p>
        </p:txBody>
      </p:sp>
      <p:sp>
        <p:nvSpPr>
          <p:cNvPr id="12" name="Rounded Rectangle 11"/>
          <p:cNvSpPr/>
          <p:nvPr/>
        </p:nvSpPr>
        <p:spPr>
          <a:xfrm>
            <a:off x="3630168" y="1600200"/>
            <a:ext cx="2331720" cy="388620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58768" y="1783080"/>
            <a:ext cx="1965960" cy="640080"/>
          </a:xfrm>
          <a:prstGeom prst="rect">
            <a:avLst/>
          </a:prstGeom>
          <a:noFill/>
        </p:spPr>
        <p:txBody>
          <a:bodyPr wrap="square" lIns="0" tIns="0" rIns="0" bIns="0" anchor="t">
            <a:spAutoFit/>
          </a:bodyPr>
          <a:lstStyle/>
          <a:p>
            <a:pPr algn="l">
              <a:spcAft>
                <a:spcPts val="400"/>
              </a:spcAft>
            </a:pPr>
            <a:r>
              <a:rPr sz="4000" b="1" i="0">
                <a:solidFill>
                  <a:srgbClr val="63A537"/>
                </a:solidFill>
                <a:latin typeface="Tw Cen MT Condensed"/>
              </a:rPr>
              <a:t>02</a:t>
            </a:r>
          </a:p>
        </p:txBody>
      </p:sp>
      <p:sp>
        <p:nvSpPr>
          <p:cNvPr id="14" name="TextBox 13"/>
          <p:cNvSpPr txBox="1"/>
          <p:nvPr/>
        </p:nvSpPr>
        <p:spPr>
          <a:xfrm>
            <a:off x="3858768" y="2560320"/>
            <a:ext cx="1965960" cy="822960"/>
          </a:xfrm>
          <a:prstGeom prst="rect">
            <a:avLst/>
          </a:prstGeom>
          <a:noFill/>
        </p:spPr>
        <p:txBody>
          <a:bodyPr wrap="square" lIns="0" tIns="0" rIns="0" bIns="0" anchor="t">
            <a:spAutoFit/>
          </a:bodyPr>
          <a:lstStyle/>
          <a:p>
            <a:pPr algn="l">
              <a:spcAft>
                <a:spcPts val="400"/>
              </a:spcAft>
            </a:pPr>
            <a:r>
              <a:rPr sz="2200" b="1" i="0">
                <a:solidFill>
                  <a:srgbClr val="1A1A1A"/>
                </a:solidFill>
                <a:latin typeface="Tw Cen MT"/>
              </a:rPr>
              <a:t>Questions 1 to 4</a:t>
            </a:r>
          </a:p>
        </p:txBody>
      </p:sp>
      <p:sp>
        <p:nvSpPr>
          <p:cNvPr id="15" name="TextBox 14"/>
          <p:cNvSpPr txBox="1"/>
          <p:nvPr/>
        </p:nvSpPr>
        <p:spPr>
          <a:xfrm>
            <a:off x="3858768" y="3429000"/>
            <a:ext cx="1965960" cy="1828800"/>
          </a:xfrm>
          <a:prstGeom prst="rect">
            <a:avLst/>
          </a:prstGeom>
          <a:noFill/>
        </p:spPr>
        <p:txBody>
          <a:bodyPr wrap="square" lIns="0" tIns="0" rIns="0" bIns="0" anchor="t">
            <a:spAutoFit/>
          </a:bodyPr>
          <a:lstStyle/>
          <a:p>
            <a:pPr algn="l">
              <a:spcAft>
                <a:spcPts val="400"/>
              </a:spcAft>
            </a:pPr>
            <a:r>
              <a:rPr sz="1800" b="0" i="0">
                <a:solidFill>
                  <a:srgbClr val="595959"/>
                </a:solidFill>
                <a:latin typeface="Tw Cen MT"/>
              </a:rPr>
              <a:t>Listing types, active areas, prices by area, price and reviews</a:t>
            </a:r>
          </a:p>
        </p:txBody>
      </p:sp>
      <p:sp>
        <p:nvSpPr>
          <p:cNvPr id="16" name="Rounded Rectangle 15"/>
          <p:cNvSpPr/>
          <p:nvPr/>
        </p:nvSpPr>
        <p:spPr>
          <a:xfrm>
            <a:off x="6236208" y="1600200"/>
            <a:ext cx="2331720" cy="388620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64808" y="1783080"/>
            <a:ext cx="1965960" cy="640080"/>
          </a:xfrm>
          <a:prstGeom prst="rect">
            <a:avLst/>
          </a:prstGeom>
          <a:noFill/>
        </p:spPr>
        <p:txBody>
          <a:bodyPr wrap="square" lIns="0" tIns="0" rIns="0" bIns="0" anchor="t">
            <a:spAutoFit/>
          </a:bodyPr>
          <a:lstStyle/>
          <a:p>
            <a:pPr algn="l">
              <a:spcAft>
                <a:spcPts val="400"/>
              </a:spcAft>
            </a:pPr>
            <a:r>
              <a:rPr sz="4000" b="1" i="0">
                <a:solidFill>
                  <a:srgbClr val="63A537"/>
                </a:solidFill>
                <a:latin typeface="Tw Cen MT Condensed"/>
              </a:rPr>
              <a:t>03</a:t>
            </a:r>
          </a:p>
        </p:txBody>
      </p:sp>
      <p:sp>
        <p:nvSpPr>
          <p:cNvPr id="18" name="TextBox 17"/>
          <p:cNvSpPr txBox="1"/>
          <p:nvPr/>
        </p:nvSpPr>
        <p:spPr>
          <a:xfrm>
            <a:off x="6464808" y="2560320"/>
            <a:ext cx="1965960" cy="822960"/>
          </a:xfrm>
          <a:prstGeom prst="rect">
            <a:avLst/>
          </a:prstGeom>
          <a:noFill/>
        </p:spPr>
        <p:txBody>
          <a:bodyPr wrap="square" lIns="0" tIns="0" rIns="0" bIns="0" anchor="t">
            <a:spAutoFit/>
          </a:bodyPr>
          <a:lstStyle/>
          <a:p>
            <a:pPr algn="l">
              <a:spcAft>
                <a:spcPts val="400"/>
              </a:spcAft>
            </a:pPr>
            <a:r>
              <a:rPr sz="2200" b="1" i="0">
                <a:solidFill>
                  <a:srgbClr val="1A1A1A"/>
                </a:solidFill>
                <a:latin typeface="Tw Cen MT"/>
              </a:rPr>
              <a:t>Questions 5 to 7</a:t>
            </a:r>
          </a:p>
        </p:txBody>
      </p:sp>
      <p:sp>
        <p:nvSpPr>
          <p:cNvPr id="19" name="TextBox 18"/>
          <p:cNvSpPr txBox="1"/>
          <p:nvPr/>
        </p:nvSpPr>
        <p:spPr>
          <a:xfrm>
            <a:off x="6464808" y="3429000"/>
            <a:ext cx="1965960" cy="1828800"/>
          </a:xfrm>
          <a:prstGeom prst="rect">
            <a:avLst/>
          </a:prstGeom>
          <a:noFill/>
        </p:spPr>
        <p:txBody>
          <a:bodyPr wrap="square" lIns="0" tIns="0" rIns="0" bIns="0" anchor="t">
            <a:spAutoFit/>
          </a:bodyPr>
          <a:lstStyle/>
          <a:p>
            <a:pPr algn="l">
              <a:spcAft>
                <a:spcPts val="400"/>
              </a:spcAft>
            </a:pPr>
            <a:r>
              <a:rPr sz="1800" b="0" i="0">
                <a:solidFill>
                  <a:srgbClr val="595959"/>
                </a:solidFill>
                <a:latin typeface="Tw Cen MT"/>
              </a:rPr>
              <a:t>Price factors, best performers, patterns and hosts</a:t>
            </a:r>
          </a:p>
        </p:txBody>
      </p:sp>
      <p:sp>
        <p:nvSpPr>
          <p:cNvPr id="20" name="Rounded Rectangle 19"/>
          <p:cNvSpPr/>
          <p:nvPr/>
        </p:nvSpPr>
        <p:spPr>
          <a:xfrm>
            <a:off x="8842248" y="1600200"/>
            <a:ext cx="2331720" cy="388620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070848" y="1783080"/>
            <a:ext cx="1965960" cy="640080"/>
          </a:xfrm>
          <a:prstGeom prst="rect">
            <a:avLst/>
          </a:prstGeom>
          <a:noFill/>
        </p:spPr>
        <p:txBody>
          <a:bodyPr wrap="square" lIns="0" tIns="0" rIns="0" bIns="0" anchor="t">
            <a:spAutoFit/>
          </a:bodyPr>
          <a:lstStyle/>
          <a:p>
            <a:pPr algn="l">
              <a:spcAft>
                <a:spcPts val="400"/>
              </a:spcAft>
            </a:pPr>
            <a:r>
              <a:rPr sz="4000" b="1" i="0">
                <a:solidFill>
                  <a:srgbClr val="63A537"/>
                </a:solidFill>
                <a:latin typeface="Tw Cen MT Condensed"/>
              </a:rPr>
              <a:t>04</a:t>
            </a:r>
          </a:p>
        </p:txBody>
      </p:sp>
      <p:sp>
        <p:nvSpPr>
          <p:cNvPr id="22" name="TextBox 21"/>
          <p:cNvSpPr txBox="1"/>
          <p:nvPr/>
        </p:nvSpPr>
        <p:spPr>
          <a:xfrm>
            <a:off x="9070848" y="2560320"/>
            <a:ext cx="1965960" cy="822960"/>
          </a:xfrm>
          <a:prstGeom prst="rect">
            <a:avLst/>
          </a:prstGeom>
          <a:noFill/>
        </p:spPr>
        <p:txBody>
          <a:bodyPr wrap="square" lIns="0" tIns="0" rIns="0" bIns="0" anchor="t">
            <a:spAutoFit/>
          </a:bodyPr>
          <a:lstStyle/>
          <a:p>
            <a:pPr algn="l">
              <a:spcAft>
                <a:spcPts val="400"/>
              </a:spcAft>
            </a:pPr>
            <a:r>
              <a:rPr sz="2200" b="1" i="0">
                <a:solidFill>
                  <a:srgbClr val="1A1A1A"/>
                </a:solidFill>
                <a:latin typeface="Tw Cen MT"/>
              </a:rPr>
              <a:t>Dashboard and actions</a:t>
            </a:r>
          </a:p>
        </p:txBody>
      </p:sp>
      <p:sp>
        <p:nvSpPr>
          <p:cNvPr id="23" name="TextBox 22"/>
          <p:cNvSpPr txBox="1"/>
          <p:nvPr/>
        </p:nvSpPr>
        <p:spPr>
          <a:xfrm>
            <a:off x="9070848" y="3429000"/>
            <a:ext cx="1965960" cy="1828800"/>
          </a:xfrm>
          <a:prstGeom prst="rect">
            <a:avLst/>
          </a:prstGeom>
          <a:noFill/>
        </p:spPr>
        <p:txBody>
          <a:bodyPr wrap="square" lIns="0" tIns="0" rIns="0" bIns="0" anchor="t">
            <a:spAutoFit/>
          </a:bodyPr>
          <a:lstStyle/>
          <a:p>
            <a:pPr algn="l">
              <a:spcAft>
                <a:spcPts val="400"/>
              </a:spcAft>
            </a:pPr>
            <a:r>
              <a:rPr sz="1800" b="0" i="0">
                <a:solidFill>
                  <a:srgbClr val="595959"/>
                </a:solidFill>
                <a:latin typeface="Tw Cen MT"/>
              </a:rPr>
              <a:t>Seven-page Power BI dashboard, insights,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The brief: seven business questions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Audience: hosts, Airbnb and the city. Only the supplied dataset is used.</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OVERVIEW</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3</a:t>
            </a:fld>
            <a:endParaRPr sz="1200" b="0" i="0">
              <a:solidFill>
                <a:srgbClr val="595959"/>
              </a:solidFill>
              <a:latin typeface="Tw Cen MT"/>
            </a:endParaRPr>
          </a:p>
        </p:txBody>
      </p:sp>
      <p:graphicFrame>
        <p:nvGraphicFramePr>
          <p:cNvPr id="8" name="Table 7"/>
          <p:cNvGraphicFramePr>
            <a:graphicFrameLocks noGrp="1"/>
          </p:cNvGraphicFramePr>
          <p:nvPr/>
        </p:nvGraphicFramePr>
        <p:xfrm>
          <a:off x="1024128" y="1554480"/>
          <a:ext cx="10149840" cy="3995928"/>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84632">
                <a:tc>
                  <a:txBody>
                    <a:bodyPr/>
                    <a:lstStyle/>
                    <a:p>
                      <a:r>
                        <a:rPr sz="1800" b="1">
                          <a:solidFill>
                            <a:srgbClr val="FFFFFF"/>
                          </a:solidFill>
                          <a:latin typeface="Tw Cen MT"/>
                        </a:rPr>
                        <a:t> </a:t>
                      </a:r>
                    </a:p>
                  </a:txBody>
                  <a:tcPr marT="27432" marB="27432" anchor="ctr">
                    <a:solidFill>
                      <a:srgbClr val="63A537"/>
                    </a:solidFill>
                  </a:tcPr>
                </a:tc>
                <a:tc>
                  <a:txBody>
                    <a:bodyPr/>
                    <a:lstStyle/>
                    <a:p>
                      <a:r>
                        <a:rPr sz="1800" b="1">
                          <a:solidFill>
                            <a:srgbClr val="FFFFFF"/>
                          </a:solidFill>
                          <a:latin typeface="Tw Cen MT"/>
                        </a:rPr>
                        <a:t>Question</a:t>
                      </a:r>
                    </a:p>
                  </a:txBody>
                  <a:tcPr marT="27432" marB="27432" anchor="ctr">
                    <a:solidFill>
                      <a:srgbClr val="63A537"/>
                    </a:solidFill>
                  </a:tcPr>
                </a:tc>
                <a:tc>
                  <a:txBody>
                    <a:bodyPr/>
                    <a:lstStyle/>
                    <a:p>
                      <a:r>
                        <a:rPr sz="1800" b="1">
                          <a:solidFill>
                            <a:srgbClr val="FFFFFF"/>
                          </a:solidFill>
                          <a:latin typeface="Tw Cen MT"/>
                        </a:rPr>
                        <a:t>Measured with</a:t>
                      </a:r>
                    </a:p>
                  </a:txBody>
                  <a:tcPr marT="27432" marB="27432" anchor="ctr">
                    <a:solidFill>
                      <a:srgbClr val="63A537"/>
                    </a:solidFill>
                  </a:tcPr>
                </a:tc>
                <a:extLst>
                  <a:ext uri="{0D108BD9-81ED-4DB2-BD59-A6C34878D82A}">
                    <a16:rowId xmlns:a16="http://schemas.microsoft.com/office/drawing/2014/main" val="10000"/>
                  </a:ext>
                </a:extLst>
              </a:tr>
              <a:tr h="484632">
                <a:tc>
                  <a:txBody>
                    <a:bodyPr/>
                    <a:lstStyle/>
                    <a:p>
                      <a:r>
                        <a:rPr sz="1800" b="0">
                          <a:solidFill>
                            <a:srgbClr val="1A1A1A"/>
                          </a:solidFill>
                          <a:latin typeface="Tw Cen MT"/>
                        </a:rPr>
                        <a:t>Q1</a:t>
                      </a:r>
                    </a:p>
                  </a:txBody>
                  <a:tcPr marT="27432" marB="27432" anchor="ctr">
                    <a:solidFill>
                      <a:srgbClr val="FFFFFF"/>
                    </a:solidFill>
                  </a:tcPr>
                </a:tc>
                <a:tc>
                  <a:txBody>
                    <a:bodyPr/>
                    <a:lstStyle/>
                    <a:p>
                      <a:r>
                        <a:rPr sz="1800" b="0">
                          <a:solidFill>
                            <a:srgbClr val="1A1A1A"/>
                          </a:solidFill>
                          <a:latin typeface="Tw Cen MT"/>
                        </a:rPr>
                        <a:t>Which listing types are the most common?</a:t>
                      </a:r>
                    </a:p>
                  </a:txBody>
                  <a:tcPr marT="27432" marB="27432" anchor="ctr">
                    <a:solidFill>
                      <a:srgbClr val="FFFFFF"/>
                    </a:solidFill>
                  </a:tcPr>
                </a:tc>
                <a:tc>
                  <a:txBody>
                    <a:bodyPr/>
                    <a:lstStyle/>
                    <a:p>
                      <a:r>
                        <a:rPr sz="1800" b="0">
                          <a:solidFill>
                            <a:srgbClr val="1A1A1A"/>
                          </a:solidFill>
                          <a:latin typeface="Tw Cen MT"/>
                        </a:rPr>
                        <a:t>listings by room type</a:t>
                      </a:r>
                    </a:p>
                  </a:txBody>
                  <a:tcPr marT="27432" marB="27432" anchor="ctr">
                    <a:solidFill>
                      <a:srgbClr val="FFFFFF"/>
                    </a:solidFill>
                  </a:tcPr>
                </a:tc>
                <a:extLst>
                  <a:ext uri="{0D108BD9-81ED-4DB2-BD59-A6C34878D82A}">
                    <a16:rowId xmlns:a16="http://schemas.microsoft.com/office/drawing/2014/main" val="10001"/>
                  </a:ext>
                </a:extLst>
              </a:tr>
              <a:tr h="484632">
                <a:tc>
                  <a:txBody>
                    <a:bodyPr/>
                    <a:lstStyle/>
                    <a:p>
                      <a:r>
                        <a:rPr sz="1800" b="0">
                          <a:solidFill>
                            <a:srgbClr val="1A1A1A"/>
                          </a:solidFill>
                          <a:latin typeface="Tw Cen MT"/>
                        </a:rPr>
                        <a:t>Q2</a:t>
                      </a:r>
                    </a:p>
                  </a:txBody>
                  <a:tcPr marT="27432" marB="27432" anchor="ctr">
                    <a:solidFill>
                      <a:srgbClr val="F4F6F1"/>
                    </a:solidFill>
                  </a:tcPr>
                </a:tc>
                <a:tc>
                  <a:txBody>
                    <a:bodyPr/>
                    <a:lstStyle/>
                    <a:p>
                      <a:r>
                        <a:rPr sz="1800" b="0">
                          <a:solidFill>
                            <a:srgbClr val="1A1A1A"/>
                          </a:solidFill>
                          <a:latin typeface="Tw Cen MT"/>
                        </a:rPr>
                        <a:t>Which areas have the most activity?</a:t>
                      </a:r>
                    </a:p>
                  </a:txBody>
                  <a:tcPr marT="27432" marB="27432" anchor="ctr">
                    <a:solidFill>
                      <a:srgbClr val="F4F6F1"/>
                    </a:solidFill>
                  </a:tcPr>
                </a:tc>
                <a:tc>
                  <a:txBody>
                    <a:bodyPr/>
                    <a:lstStyle/>
                    <a:p>
                      <a:r>
                        <a:rPr sz="1800" b="0">
                          <a:solidFill>
                            <a:srgbClr val="1A1A1A"/>
                          </a:solidFill>
                          <a:latin typeface="Tw Cen MT"/>
                        </a:rPr>
                        <a:t>listings (supply) and reviews (demand)</a:t>
                      </a:r>
                    </a:p>
                  </a:txBody>
                  <a:tcPr marT="27432" marB="27432" anchor="ctr">
                    <a:solidFill>
                      <a:srgbClr val="F4F6F1"/>
                    </a:solidFill>
                  </a:tcPr>
                </a:tc>
                <a:extLst>
                  <a:ext uri="{0D108BD9-81ED-4DB2-BD59-A6C34878D82A}">
                    <a16:rowId xmlns:a16="http://schemas.microsoft.com/office/drawing/2014/main" val="10002"/>
                  </a:ext>
                </a:extLst>
              </a:tr>
              <a:tr h="484632">
                <a:tc>
                  <a:txBody>
                    <a:bodyPr/>
                    <a:lstStyle/>
                    <a:p>
                      <a:r>
                        <a:rPr sz="1800" b="0">
                          <a:solidFill>
                            <a:srgbClr val="1A1A1A"/>
                          </a:solidFill>
                          <a:latin typeface="Tw Cen MT"/>
                        </a:rPr>
                        <a:t>Q3</a:t>
                      </a:r>
                    </a:p>
                  </a:txBody>
                  <a:tcPr marT="27432" marB="27432" anchor="ctr">
                    <a:solidFill>
                      <a:srgbClr val="FFFFFF"/>
                    </a:solidFill>
                  </a:tcPr>
                </a:tc>
                <a:tc>
                  <a:txBody>
                    <a:bodyPr/>
                    <a:lstStyle/>
                    <a:p>
                      <a:r>
                        <a:rPr sz="1800" b="0">
                          <a:solidFill>
                            <a:srgbClr val="1A1A1A"/>
                          </a:solidFill>
                          <a:latin typeface="Tw Cen MT"/>
                        </a:rPr>
                        <a:t>How do prices differ across areas?</a:t>
                      </a:r>
                    </a:p>
                  </a:txBody>
                  <a:tcPr marT="27432" marB="27432" anchor="ctr">
                    <a:solidFill>
                      <a:srgbClr val="FFFFFF"/>
                    </a:solidFill>
                  </a:tcPr>
                </a:tc>
                <a:tc>
                  <a:txBody>
                    <a:bodyPr/>
                    <a:lstStyle/>
                    <a:p>
                      <a:r>
                        <a:rPr sz="1800" b="0">
                          <a:solidFill>
                            <a:srgbClr val="1A1A1A"/>
                          </a:solidFill>
                          <a:latin typeface="Tw Cen MT"/>
                        </a:rPr>
                        <a:t>median price by borough and neighbourhood</a:t>
                      </a:r>
                    </a:p>
                  </a:txBody>
                  <a:tcPr marT="27432" marB="27432" anchor="ctr">
                    <a:solidFill>
                      <a:srgbClr val="FFFFFF"/>
                    </a:solidFill>
                  </a:tcPr>
                </a:tc>
                <a:extLst>
                  <a:ext uri="{0D108BD9-81ED-4DB2-BD59-A6C34878D82A}">
                    <a16:rowId xmlns:a16="http://schemas.microsoft.com/office/drawing/2014/main" val="10003"/>
                  </a:ext>
                </a:extLst>
              </a:tr>
              <a:tr h="484632">
                <a:tc>
                  <a:txBody>
                    <a:bodyPr/>
                    <a:lstStyle/>
                    <a:p>
                      <a:r>
                        <a:rPr sz="1800" b="0">
                          <a:solidFill>
                            <a:srgbClr val="1A1A1A"/>
                          </a:solidFill>
                          <a:latin typeface="Tw Cen MT"/>
                        </a:rPr>
                        <a:t>Q4</a:t>
                      </a:r>
                    </a:p>
                  </a:txBody>
                  <a:tcPr marT="27432" marB="27432" anchor="ctr">
                    <a:solidFill>
                      <a:srgbClr val="F4F6F1"/>
                    </a:solidFill>
                  </a:tcPr>
                </a:tc>
                <a:tc>
                  <a:txBody>
                    <a:bodyPr/>
                    <a:lstStyle/>
                    <a:p>
                      <a:r>
                        <a:rPr sz="1800" b="0">
                          <a:solidFill>
                            <a:srgbClr val="1A1A1A"/>
                          </a:solidFill>
                          <a:latin typeface="Tw Cen MT"/>
                        </a:rPr>
                        <a:t>Is there a relationship between price, ratings and reviews?</a:t>
                      </a:r>
                    </a:p>
                  </a:txBody>
                  <a:tcPr marT="27432" marB="27432" anchor="ctr">
                    <a:solidFill>
                      <a:srgbClr val="F4F6F1"/>
                    </a:solidFill>
                  </a:tcPr>
                </a:tc>
                <a:tc>
                  <a:txBody>
                    <a:bodyPr/>
                    <a:lstStyle/>
                    <a:p>
                      <a:r>
                        <a:rPr sz="1800" b="0">
                          <a:solidFill>
                            <a:srgbClr val="1A1A1A"/>
                          </a:solidFill>
                          <a:latin typeface="Tw Cen MT"/>
                        </a:rPr>
                        <a:t>rank correlation; no rating in the file</a:t>
                      </a:r>
                    </a:p>
                  </a:txBody>
                  <a:tcPr marT="27432" marB="27432" anchor="ctr">
                    <a:solidFill>
                      <a:srgbClr val="F4F6F1"/>
                    </a:solidFill>
                  </a:tcPr>
                </a:tc>
                <a:extLst>
                  <a:ext uri="{0D108BD9-81ED-4DB2-BD59-A6C34878D82A}">
                    <a16:rowId xmlns:a16="http://schemas.microsoft.com/office/drawing/2014/main" val="10004"/>
                  </a:ext>
                </a:extLst>
              </a:tr>
              <a:tr h="484632">
                <a:tc>
                  <a:txBody>
                    <a:bodyPr/>
                    <a:lstStyle/>
                    <a:p>
                      <a:r>
                        <a:rPr sz="1800" b="0">
                          <a:solidFill>
                            <a:srgbClr val="1A1A1A"/>
                          </a:solidFill>
                          <a:latin typeface="Tw Cen MT"/>
                        </a:rPr>
                        <a:t>Q5</a:t>
                      </a:r>
                    </a:p>
                  </a:txBody>
                  <a:tcPr marT="27432" marB="27432" anchor="ctr">
                    <a:solidFill>
                      <a:srgbClr val="FFFFFF"/>
                    </a:solidFill>
                  </a:tcPr>
                </a:tc>
                <a:tc>
                  <a:txBody>
                    <a:bodyPr/>
                    <a:lstStyle/>
                    <a:p>
                      <a:r>
                        <a:rPr sz="1800" b="0">
                          <a:solidFill>
                            <a:srgbClr val="1A1A1A"/>
                          </a:solidFill>
                          <a:latin typeface="Tw Cen MT"/>
                        </a:rPr>
                        <a:t>Which factors seem to affect price?</a:t>
                      </a:r>
                    </a:p>
                  </a:txBody>
                  <a:tcPr marT="27432" marB="27432" anchor="ctr">
                    <a:solidFill>
                      <a:srgbClr val="FFFFFF"/>
                    </a:solidFill>
                  </a:tcPr>
                </a:tc>
                <a:tc>
                  <a:txBody>
                    <a:bodyPr/>
                    <a:lstStyle/>
                    <a:p>
                      <a:r>
                        <a:rPr sz="1800" b="0">
                          <a:solidFill>
                            <a:srgbClr val="1A1A1A"/>
                          </a:solidFill>
                          <a:latin typeface="Tw Cen MT"/>
                        </a:rPr>
                        <a:t>multiple regression of the log price</a:t>
                      </a:r>
                    </a:p>
                  </a:txBody>
                  <a:tcPr marT="27432" marB="27432" anchor="ctr">
                    <a:solidFill>
                      <a:srgbClr val="FFFFFF"/>
                    </a:solidFill>
                  </a:tcPr>
                </a:tc>
                <a:extLst>
                  <a:ext uri="{0D108BD9-81ED-4DB2-BD59-A6C34878D82A}">
                    <a16:rowId xmlns:a16="http://schemas.microsoft.com/office/drawing/2014/main" val="10005"/>
                  </a:ext>
                </a:extLst>
              </a:tr>
              <a:tr h="484632">
                <a:tc>
                  <a:txBody>
                    <a:bodyPr/>
                    <a:lstStyle/>
                    <a:p>
                      <a:r>
                        <a:rPr sz="1800" b="0">
                          <a:solidFill>
                            <a:srgbClr val="1A1A1A"/>
                          </a:solidFill>
                          <a:latin typeface="Tw Cen MT"/>
                        </a:rPr>
                        <a:t>Q6</a:t>
                      </a:r>
                    </a:p>
                  </a:txBody>
                  <a:tcPr marT="27432" marB="27432" anchor="ctr">
                    <a:solidFill>
                      <a:srgbClr val="F4F6F1"/>
                    </a:solidFill>
                  </a:tcPr>
                </a:tc>
                <a:tc>
                  <a:txBody>
                    <a:bodyPr/>
                    <a:lstStyle/>
                    <a:p>
                      <a:r>
                        <a:rPr sz="1800" b="0">
                          <a:solidFill>
                            <a:srgbClr val="1A1A1A"/>
                          </a:solidFill>
                          <a:latin typeface="Tw Cen MT"/>
                        </a:rPr>
                        <a:t>Which areas or listings perform best?</a:t>
                      </a:r>
                    </a:p>
                  </a:txBody>
                  <a:tcPr marT="27432" marB="27432" anchor="ctr">
                    <a:solidFill>
                      <a:srgbClr val="F4F6F1"/>
                    </a:solidFill>
                  </a:tcPr>
                </a:tc>
                <a:tc>
                  <a:txBody>
                    <a:bodyPr/>
                    <a:lstStyle/>
                    <a:p>
                      <a:r>
                        <a:rPr sz="1800" b="0">
                          <a:solidFill>
                            <a:srgbClr val="1A1A1A"/>
                          </a:solidFill>
                          <a:latin typeface="Tw Cen MT"/>
                        </a:rPr>
                        <a:t>reviews per month, a proxy of stays</a:t>
                      </a:r>
                    </a:p>
                  </a:txBody>
                  <a:tcPr marT="27432" marB="27432" anchor="ctr">
                    <a:solidFill>
                      <a:srgbClr val="F4F6F1"/>
                    </a:solidFill>
                  </a:tcPr>
                </a:tc>
                <a:extLst>
                  <a:ext uri="{0D108BD9-81ED-4DB2-BD59-A6C34878D82A}">
                    <a16:rowId xmlns:a16="http://schemas.microsoft.com/office/drawing/2014/main" val="10006"/>
                  </a:ext>
                </a:extLst>
              </a:tr>
              <a:tr h="484632">
                <a:tc>
                  <a:txBody>
                    <a:bodyPr/>
                    <a:lstStyle/>
                    <a:p>
                      <a:r>
                        <a:rPr sz="1800" b="0">
                          <a:solidFill>
                            <a:srgbClr val="1A1A1A"/>
                          </a:solidFill>
                          <a:latin typeface="Tw Cen MT"/>
                        </a:rPr>
                        <a:t>Q7</a:t>
                      </a:r>
                    </a:p>
                  </a:txBody>
                  <a:tcPr marT="27432" marB="27432" anchor="ctr">
                    <a:solidFill>
                      <a:srgbClr val="FFFFFF"/>
                    </a:solidFill>
                  </a:tcPr>
                </a:tc>
                <a:tc>
                  <a:txBody>
                    <a:bodyPr/>
                    <a:lstStyle/>
                    <a:p>
                      <a:r>
                        <a:rPr sz="1800" b="0">
                          <a:solidFill>
                            <a:srgbClr val="1A1A1A"/>
                          </a:solidFill>
                          <a:latin typeface="Tw Cen MT"/>
                        </a:rPr>
                        <a:t>Are there noticeable patterns or trends?</a:t>
                      </a:r>
                    </a:p>
                  </a:txBody>
                  <a:tcPr marT="27432" marB="27432" anchor="ctr">
                    <a:solidFill>
                      <a:srgbClr val="FFFFFF"/>
                    </a:solidFill>
                  </a:tcPr>
                </a:tc>
                <a:tc>
                  <a:txBody>
                    <a:bodyPr/>
                    <a:lstStyle/>
                    <a:p>
                      <a:r>
                        <a:rPr sz="1800" b="0">
                          <a:solidFill>
                            <a:srgbClr val="1A1A1A"/>
                          </a:solidFill>
                          <a:latin typeface="Tw Cen MT"/>
                        </a:rPr>
                        <a:t>recency, availability, host size</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The dataset in one table</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One snapshot of July 2019: it shows the offer and the demand, not satisfaction or revenue.</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DATA</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4</a:t>
            </a:fld>
            <a:endParaRPr sz="1200" b="0" i="0">
              <a:solidFill>
                <a:srgbClr val="595959"/>
              </a:solidFill>
              <a:latin typeface="Tw Cen MT"/>
            </a:endParaRPr>
          </a:p>
        </p:txBody>
      </p:sp>
      <p:graphicFrame>
        <p:nvGraphicFramePr>
          <p:cNvPr id="8" name="Table 7"/>
          <p:cNvGraphicFramePr>
            <a:graphicFrameLocks noGrp="1"/>
          </p:cNvGraphicFramePr>
          <p:nvPr/>
        </p:nvGraphicFramePr>
        <p:xfrm>
          <a:off x="1024128" y="1554480"/>
          <a:ext cx="6492240" cy="3590544"/>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502920">
                <a:tc>
                  <a:txBody>
                    <a:bodyPr/>
                    <a:lstStyle/>
                    <a:p>
                      <a:r>
                        <a:rPr sz="1700" b="1">
                          <a:solidFill>
                            <a:srgbClr val="FFFFFF"/>
                          </a:solidFill>
                          <a:latin typeface="Tw Cen MT"/>
                        </a:rPr>
                        <a:t>Group</a:t>
                      </a:r>
                    </a:p>
                  </a:txBody>
                  <a:tcPr marT="27432" marB="27432" anchor="ctr">
                    <a:solidFill>
                      <a:srgbClr val="63A537"/>
                    </a:solidFill>
                  </a:tcPr>
                </a:tc>
                <a:tc>
                  <a:txBody>
                    <a:bodyPr/>
                    <a:lstStyle/>
                    <a:p>
                      <a:r>
                        <a:rPr sz="1700" b="1">
                          <a:solidFill>
                            <a:srgbClr val="FFFFFF"/>
                          </a:solidFill>
                          <a:latin typeface="Tw Cen MT"/>
                        </a:rPr>
                        <a:t>Columns</a:t>
                      </a:r>
                    </a:p>
                  </a:txBody>
                  <a:tcPr marT="27432" marB="27432" anchor="ctr">
                    <a:solidFill>
                      <a:srgbClr val="63A537"/>
                    </a:solidFill>
                  </a:tcPr>
                </a:tc>
                <a:extLst>
                  <a:ext uri="{0D108BD9-81ED-4DB2-BD59-A6C34878D82A}">
                    <a16:rowId xmlns:a16="http://schemas.microsoft.com/office/drawing/2014/main" val="10000"/>
                  </a:ext>
                </a:extLst>
              </a:tr>
              <a:tr h="502920">
                <a:tc>
                  <a:txBody>
                    <a:bodyPr/>
                    <a:lstStyle/>
                    <a:p>
                      <a:r>
                        <a:rPr sz="1700" b="0">
                          <a:solidFill>
                            <a:srgbClr val="1A1A1A"/>
                          </a:solidFill>
                          <a:latin typeface="Tw Cen MT"/>
                        </a:rPr>
                        <a:t>Identifiers</a:t>
                      </a:r>
                    </a:p>
                  </a:txBody>
                  <a:tcPr marT="27432" marB="27432" anchor="ctr">
                    <a:solidFill>
                      <a:srgbClr val="FFFFFF"/>
                    </a:solidFill>
                  </a:tcPr>
                </a:tc>
                <a:tc>
                  <a:txBody>
                    <a:bodyPr/>
                    <a:lstStyle/>
                    <a:p>
                      <a:r>
                        <a:rPr sz="1700" b="0">
                          <a:solidFill>
                            <a:srgbClr val="1A1A1A"/>
                          </a:solidFill>
                          <a:latin typeface="Tw Cen MT"/>
                        </a:rPr>
                        <a:t>listing id, host id</a:t>
                      </a:r>
                    </a:p>
                  </a:txBody>
                  <a:tcPr marT="27432" marB="27432" anchor="ctr">
                    <a:solidFill>
                      <a:srgbClr val="FFFFFF"/>
                    </a:solidFill>
                  </a:tcPr>
                </a:tc>
                <a:extLst>
                  <a:ext uri="{0D108BD9-81ED-4DB2-BD59-A6C34878D82A}">
                    <a16:rowId xmlns:a16="http://schemas.microsoft.com/office/drawing/2014/main" val="10001"/>
                  </a:ext>
                </a:extLst>
              </a:tr>
              <a:tr h="502920">
                <a:tc>
                  <a:txBody>
                    <a:bodyPr/>
                    <a:lstStyle/>
                    <a:p>
                      <a:r>
                        <a:rPr sz="1700" b="0">
                          <a:solidFill>
                            <a:srgbClr val="1A1A1A"/>
                          </a:solidFill>
                          <a:latin typeface="Tw Cen MT"/>
                        </a:rPr>
                        <a:t>Location</a:t>
                      </a:r>
                    </a:p>
                  </a:txBody>
                  <a:tcPr marT="27432" marB="27432" anchor="ctr">
                    <a:solidFill>
                      <a:srgbClr val="F4F6F1"/>
                    </a:solidFill>
                  </a:tcPr>
                </a:tc>
                <a:tc>
                  <a:txBody>
                    <a:bodyPr/>
                    <a:lstStyle/>
                    <a:p>
                      <a:r>
                        <a:rPr sz="1700" b="0">
                          <a:solidFill>
                            <a:srgbClr val="1A1A1A"/>
                          </a:solidFill>
                          <a:latin typeface="Tw Cen MT"/>
                        </a:rPr>
                        <a:t>borough, neighbourhood (221), latitude, longitude</a:t>
                      </a:r>
                    </a:p>
                  </a:txBody>
                  <a:tcPr marT="27432" marB="27432" anchor="ctr">
                    <a:solidFill>
                      <a:srgbClr val="F4F6F1"/>
                    </a:solidFill>
                  </a:tcPr>
                </a:tc>
                <a:extLst>
                  <a:ext uri="{0D108BD9-81ED-4DB2-BD59-A6C34878D82A}">
                    <a16:rowId xmlns:a16="http://schemas.microsoft.com/office/drawing/2014/main" val="10002"/>
                  </a:ext>
                </a:extLst>
              </a:tr>
              <a:tr h="502920">
                <a:tc>
                  <a:txBody>
                    <a:bodyPr/>
                    <a:lstStyle/>
                    <a:p>
                      <a:r>
                        <a:rPr sz="1700" b="0">
                          <a:solidFill>
                            <a:srgbClr val="1A1A1A"/>
                          </a:solidFill>
                          <a:latin typeface="Tw Cen MT"/>
                        </a:rPr>
                        <a:t>Offer</a:t>
                      </a:r>
                    </a:p>
                  </a:txBody>
                  <a:tcPr marT="27432" marB="27432" anchor="ctr">
                    <a:solidFill>
                      <a:srgbClr val="FFFFFF"/>
                    </a:solidFill>
                  </a:tcPr>
                </a:tc>
                <a:tc>
                  <a:txBody>
                    <a:bodyPr/>
                    <a:lstStyle/>
                    <a:p>
                      <a:r>
                        <a:rPr sz="1700" b="0">
                          <a:solidFill>
                            <a:srgbClr val="1A1A1A"/>
                          </a:solidFill>
                          <a:latin typeface="Tw Cen MT"/>
                        </a:rPr>
                        <a:t>room type, price per night, minimum nights</a:t>
                      </a:r>
                    </a:p>
                  </a:txBody>
                  <a:tcPr marT="27432" marB="27432" anchor="ctr">
                    <a:solidFill>
                      <a:srgbClr val="FFFFFF"/>
                    </a:solidFill>
                  </a:tcPr>
                </a:tc>
                <a:extLst>
                  <a:ext uri="{0D108BD9-81ED-4DB2-BD59-A6C34878D82A}">
                    <a16:rowId xmlns:a16="http://schemas.microsoft.com/office/drawing/2014/main" val="10003"/>
                  </a:ext>
                </a:extLst>
              </a:tr>
              <a:tr h="502920">
                <a:tc>
                  <a:txBody>
                    <a:bodyPr/>
                    <a:lstStyle/>
                    <a:p>
                      <a:r>
                        <a:rPr sz="1700" b="0">
                          <a:solidFill>
                            <a:srgbClr val="1A1A1A"/>
                          </a:solidFill>
                          <a:latin typeface="Tw Cen MT"/>
                        </a:rPr>
                        <a:t>Demand</a:t>
                      </a:r>
                    </a:p>
                  </a:txBody>
                  <a:tcPr marT="27432" marB="27432" anchor="ctr">
                    <a:solidFill>
                      <a:srgbClr val="F4F6F1"/>
                    </a:solidFill>
                  </a:tcPr>
                </a:tc>
                <a:tc>
                  <a:txBody>
                    <a:bodyPr/>
                    <a:lstStyle/>
                    <a:p>
                      <a:r>
                        <a:rPr sz="1700" b="0">
                          <a:solidFill>
                            <a:srgbClr val="1A1A1A"/>
                          </a:solidFill>
                          <a:latin typeface="Tw Cen MT"/>
                        </a:rPr>
                        <a:t>number of reviews, reviews per month, last review</a:t>
                      </a:r>
                    </a:p>
                  </a:txBody>
                  <a:tcPr marT="27432" marB="27432" anchor="ctr">
                    <a:solidFill>
                      <a:srgbClr val="F4F6F1"/>
                    </a:solidFill>
                  </a:tcPr>
                </a:tc>
                <a:extLst>
                  <a:ext uri="{0D108BD9-81ED-4DB2-BD59-A6C34878D82A}">
                    <a16:rowId xmlns:a16="http://schemas.microsoft.com/office/drawing/2014/main" val="10004"/>
                  </a:ext>
                </a:extLst>
              </a:tr>
              <a:tr h="502920">
                <a:tc>
                  <a:txBody>
                    <a:bodyPr/>
                    <a:lstStyle/>
                    <a:p>
                      <a:r>
                        <a:rPr sz="1700" b="0">
                          <a:solidFill>
                            <a:srgbClr val="1A1A1A"/>
                          </a:solidFill>
                          <a:latin typeface="Tw Cen MT"/>
                        </a:rPr>
                        <a:t>Host and calendar</a:t>
                      </a:r>
                    </a:p>
                  </a:txBody>
                  <a:tcPr marT="27432" marB="27432" anchor="ctr">
                    <a:solidFill>
                      <a:srgbClr val="FFFFFF"/>
                    </a:solidFill>
                  </a:tcPr>
                </a:tc>
                <a:tc>
                  <a:txBody>
                    <a:bodyPr/>
                    <a:lstStyle/>
                    <a:p>
                      <a:r>
                        <a:rPr sz="1700" b="0">
                          <a:solidFill>
                            <a:srgbClr val="1A1A1A"/>
                          </a:solidFill>
                          <a:latin typeface="Tw Cen MT"/>
                        </a:rPr>
                        <a:t>listings of the host, days available in the year</a:t>
                      </a:r>
                    </a:p>
                  </a:txBody>
                  <a:tcPr marT="27432" marB="27432" anchor="ctr">
                    <a:solidFill>
                      <a:srgbClr val="FFFFFF"/>
                    </a:solidFill>
                  </a:tcPr>
                </a:tc>
                <a:extLst>
                  <a:ext uri="{0D108BD9-81ED-4DB2-BD59-A6C34878D82A}">
                    <a16:rowId xmlns:a16="http://schemas.microsoft.com/office/drawing/2014/main" val="10005"/>
                  </a:ext>
                </a:extLst>
              </a:tr>
              <a:tr h="502920">
                <a:tc>
                  <a:txBody>
                    <a:bodyPr/>
                    <a:lstStyle/>
                    <a:p>
                      <a:r>
                        <a:rPr sz="1700" b="0">
                          <a:solidFill>
                            <a:srgbClr val="1A1A1A"/>
                          </a:solidFill>
                          <a:latin typeface="Tw Cen MT"/>
                        </a:rPr>
                        <a:t>Text</a:t>
                      </a:r>
                    </a:p>
                  </a:txBody>
                  <a:tcPr marT="27432" marB="27432" anchor="ctr">
                    <a:solidFill>
                      <a:srgbClr val="F4F6F1"/>
                    </a:solidFill>
                  </a:tcPr>
                </a:tc>
                <a:tc>
                  <a:txBody>
                    <a:bodyPr/>
                    <a:lstStyle/>
                    <a:p>
                      <a:r>
                        <a:rPr sz="1700" b="0">
                          <a:solidFill>
                            <a:srgbClr val="1A1A1A"/>
                          </a:solidFill>
                          <a:latin typeface="Tw Cen MT"/>
                        </a:rPr>
                        <a:t>listing name, host first name</a:t>
                      </a:r>
                    </a:p>
                  </a:txBody>
                  <a:tcPr marT="27432" marB="27432" anchor="ctr">
                    <a:solidFill>
                      <a:srgbClr val="F4F6F1"/>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7863840" y="1554480"/>
            <a:ext cx="3310128" cy="352044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092440" y="1691640"/>
            <a:ext cx="2926080" cy="411480"/>
          </a:xfrm>
          <a:prstGeom prst="rect">
            <a:avLst/>
          </a:prstGeom>
          <a:noFill/>
        </p:spPr>
        <p:txBody>
          <a:bodyPr wrap="square" lIns="0" tIns="0" rIns="0" bIns="0" anchor="t">
            <a:spAutoFit/>
          </a:bodyPr>
          <a:lstStyle/>
          <a:p>
            <a:pPr algn="l">
              <a:spcAft>
                <a:spcPts val="400"/>
              </a:spcAft>
            </a:pPr>
            <a:r>
              <a:rPr sz="3000" b="1" i="0">
                <a:solidFill>
                  <a:srgbClr val="63A537"/>
                </a:solidFill>
                <a:latin typeface="Tw Cen MT Condensed"/>
              </a:rPr>
              <a:t>48,895 listings</a:t>
            </a:r>
          </a:p>
        </p:txBody>
      </p:sp>
      <p:sp>
        <p:nvSpPr>
          <p:cNvPr id="11" name="TextBox 10"/>
          <p:cNvSpPr txBox="1"/>
          <p:nvPr/>
        </p:nvSpPr>
        <p:spPr>
          <a:xfrm>
            <a:off x="8092440" y="2240280"/>
            <a:ext cx="2926080" cy="365760"/>
          </a:xfrm>
          <a:prstGeom prst="rect">
            <a:avLst/>
          </a:prstGeom>
          <a:noFill/>
        </p:spPr>
        <p:txBody>
          <a:bodyPr wrap="square" lIns="0" tIns="0" rIns="0" bIns="0" anchor="t">
            <a:spAutoFit/>
          </a:bodyPr>
          <a:lstStyle/>
          <a:p>
            <a:pPr algn="l">
              <a:spcAft>
                <a:spcPts val="400"/>
              </a:spcAft>
            </a:pPr>
            <a:r>
              <a:rPr sz="1600" b="0" i="0">
                <a:solidFill>
                  <a:srgbClr val="595959"/>
                </a:solidFill>
                <a:latin typeface="Tw Cen MT"/>
              </a:rPr>
              <a:t>16 columns   |   the supplied dataset only</a:t>
            </a:r>
          </a:p>
        </p:txBody>
      </p:sp>
      <p:sp>
        <p:nvSpPr>
          <p:cNvPr id="12" name="TextBox 11"/>
          <p:cNvSpPr txBox="1"/>
          <p:nvPr/>
        </p:nvSpPr>
        <p:spPr>
          <a:xfrm>
            <a:off x="8092440" y="2788920"/>
            <a:ext cx="2926080" cy="365760"/>
          </a:xfrm>
          <a:prstGeom prst="rect">
            <a:avLst/>
          </a:prstGeom>
          <a:noFill/>
        </p:spPr>
        <p:txBody>
          <a:bodyPr wrap="square" lIns="0" tIns="0" rIns="0" bIns="0" anchor="t">
            <a:spAutoFit/>
          </a:bodyPr>
          <a:lstStyle/>
          <a:p>
            <a:pPr algn="l">
              <a:spcAft>
                <a:spcPts val="400"/>
              </a:spcAft>
            </a:pPr>
            <a:r>
              <a:rPr sz="1900" b="1" i="0">
                <a:solidFill>
                  <a:srgbClr val="1A1A1A"/>
                </a:solidFill>
                <a:latin typeface="Tw Cen MT"/>
              </a:rPr>
              <a:t>Not in the file</a:t>
            </a:r>
          </a:p>
        </p:txBody>
      </p:sp>
      <p:sp>
        <p:nvSpPr>
          <p:cNvPr id="13" name="TextBox 12"/>
          <p:cNvSpPr txBox="1"/>
          <p:nvPr/>
        </p:nvSpPr>
        <p:spPr>
          <a:xfrm>
            <a:off x="8092440" y="3200400"/>
            <a:ext cx="2971800" cy="1828800"/>
          </a:xfrm>
          <a:prstGeom prst="rect">
            <a:avLst/>
          </a:prstGeom>
          <a:noFill/>
        </p:spPr>
        <p:txBody>
          <a:bodyPr wrap="square" lIns="0" tIns="0" rIns="0" bIns="0" anchor="t">
            <a:spAutoFit/>
          </a:bodyPr>
          <a:lstStyle/>
          <a:p>
            <a:pPr algn="l">
              <a:spcAft>
                <a:spcPts val="400"/>
              </a:spcAft>
            </a:pPr>
            <a:r>
              <a:rPr sz="1600" b="1" i="0">
                <a:solidFill>
                  <a:srgbClr val="1A1A1A"/>
                </a:solidFill>
                <a:latin typeface="Tw Cen MT"/>
              </a:rPr>
              <a:t>No rating: </a:t>
            </a:r>
            <a:r>
              <a:rPr sz="1600" b="0" i="0">
                <a:solidFill>
                  <a:srgbClr val="1A1A1A"/>
                </a:solidFill>
                <a:latin typeface="Tw Cen MT"/>
              </a:rPr>
              <a:t>Q4 uses reviews.</a:t>
            </a:r>
          </a:p>
          <a:p>
            <a:pPr algn="l">
              <a:spcAft>
                <a:spcPts val="400"/>
              </a:spcAft>
            </a:pPr>
            <a:r>
              <a:rPr sz="1600" b="1" i="0">
                <a:solidFill>
                  <a:srgbClr val="1A1A1A"/>
                </a:solidFill>
                <a:latin typeface="Tw Cen MT"/>
              </a:rPr>
              <a:t>No booking or revenue: </a:t>
            </a:r>
            <a:r>
              <a:rPr sz="1600" b="0" i="0">
                <a:solidFill>
                  <a:srgbClr val="1A1A1A"/>
                </a:solidFill>
                <a:latin typeface="Tw Cen MT"/>
              </a:rPr>
              <a:t>prices are asked prices.</a:t>
            </a:r>
          </a:p>
          <a:p>
            <a:pPr algn="l">
              <a:spcAft>
                <a:spcPts val="400"/>
              </a:spcAft>
            </a:pPr>
            <a:r>
              <a:rPr sz="1600" b="1" i="0">
                <a:solidFill>
                  <a:srgbClr val="1A1A1A"/>
                </a:solidFill>
                <a:latin typeface="Tw Cen MT"/>
              </a:rPr>
              <a:t>No size or amenities.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Cleaning: ten logged steps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250 listings removed (0.5 %): the median price only moves from $106 to $105.</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CLEANING</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5</a:t>
            </a:fld>
            <a:endParaRPr sz="1200" b="0" i="0">
              <a:solidFill>
                <a:srgbClr val="595959"/>
              </a:solidFill>
              <a:latin typeface="Tw Cen MT"/>
            </a:endParaRPr>
          </a:p>
        </p:txBody>
      </p:sp>
      <p:graphicFrame>
        <p:nvGraphicFramePr>
          <p:cNvPr id="8" name="Table 7"/>
          <p:cNvGraphicFramePr>
            <a:graphicFrameLocks noGrp="1"/>
          </p:cNvGraphicFramePr>
          <p:nvPr/>
        </p:nvGraphicFramePr>
        <p:xfrm>
          <a:off x="1024128" y="1554480"/>
          <a:ext cx="6766560" cy="365760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57200">
                <a:tc>
                  <a:txBody>
                    <a:bodyPr/>
                    <a:lstStyle/>
                    <a:p>
                      <a:r>
                        <a:rPr sz="1600" b="1">
                          <a:solidFill>
                            <a:srgbClr val="FFFFFF"/>
                          </a:solidFill>
                          <a:latin typeface="Tw Cen MT"/>
                        </a:rPr>
                        <a:t>Issue</a:t>
                      </a:r>
                    </a:p>
                  </a:txBody>
                  <a:tcPr marT="27432" marB="27432" anchor="ctr">
                    <a:solidFill>
                      <a:srgbClr val="63A537"/>
                    </a:solidFill>
                  </a:tcPr>
                </a:tc>
                <a:tc>
                  <a:txBody>
                    <a:bodyPr/>
                    <a:lstStyle/>
                    <a:p>
                      <a:pPr algn="r"/>
                      <a:r>
                        <a:rPr sz="1600" b="1">
                          <a:solidFill>
                            <a:srgbClr val="FFFFFF"/>
                          </a:solidFill>
                          <a:latin typeface="Tw Cen MT"/>
                        </a:rPr>
                        <a:t>Rows</a:t>
                      </a:r>
                    </a:p>
                  </a:txBody>
                  <a:tcPr marT="27432" marB="27432" anchor="ctr">
                    <a:solidFill>
                      <a:srgbClr val="63A537"/>
                    </a:solidFill>
                  </a:tcPr>
                </a:tc>
                <a:tc>
                  <a:txBody>
                    <a:bodyPr/>
                    <a:lstStyle/>
                    <a:p>
                      <a:r>
                        <a:rPr sz="1600" b="1">
                          <a:solidFill>
                            <a:srgbClr val="FFFFFF"/>
                          </a:solidFill>
                          <a:latin typeface="Tw Cen MT"/>
                        </a:rPr>
                        <a:t>Treatment</a:t>
                      </a:r>
                    </a:p>
                  </a:txBody>
                  <a:tcPr marT="27432" marB="27432" anchor="ctr">
                    <a:solidFill>
                      <a:srgbClr val="63A537"/>
                    </a:solidFill>
                  </a:tcPr>
                </a:tc>
                <a:extLst>
                  <a:ext uri="{0D108BD9-81ED-4DB2-BD59-A6C34878D82A}">
                    <a16:rowId xmlns:a16="http://schemas.microsoft.com/office/drawing/2014/main" val="10000"/>
                  </a:ext>
                </a:extLst>
              </a:tr>
              <a:tr h="457200">
                <a:tc>
                  <a:txBody>
                    <a:bodyPr/>
                    <a:lstStyle/>
                    <a:p>
                      <a:r>
                        <a:rPr sz="1600" b="0">
                          <a:solidFill>
                            <a:srgbClr val="1A1A1A"/>
                          </a:solidFill>
                          <a:latin typeface="Tw Cen MT"/>
                        </a:rPr>
                        <a:t>Never reviewed: no date, no rate</a:t>
                      </a:r>
                    </a:p>
                  </a:txBody>
                  <a:tcPr marT="27432" marB="27432" anchor="ctr">
                    <a:solidFill>
                      <a:srgbClr val="FFFFFF"/>
                    </a:solidFill>
                  </a:tcPr>
                </a:tc>
                <a:tc>
                  <a:txBody>
                    <a:bodyPr/>
                    <a:lstStyle/>
                    <a:p>
                      <a:pPr algn="r"/>
                      <a:r>
                        <a:rPr sz="1600" b="0">
                          <a:solidFill>
                            <a:srgbClr val="1A1A1A"/>
                          </a:solidFill>
                          <a:latin typeface="Tw Cen MT"/>
                        </a:rPr>
                        <a:t>10,052</a:t>
                      </a:r>
                    </a:p>
                  </a:txBody>
                  <a:tcPr marT="27432" marB="27432" anchor="ctr">
                    <a:solidFill>
                      <a:srgbClr val="FFFFFF"/>
                    </a:solidFill>
                  </a:tcPr>
                </a:tc>
                <a:tc>
                  <a:txBody>
                    <a:bodyPr/>
                    <a:lstStyle/>
                    <a:p>
                      <a:r>
                        <a:rPr sz="1600" b="0">
                          <a:solidFill>
                            <a:srgbClr val="1A1A1A"/>
                          </a:solidFill>
                          <a:latin typeface="Tw Cen MT"/>
                        </a:rPr>
                        <a:t>rate = 0, flag</a:t>
                      </a:r>
                    </a:p>
                  </a:txBody>
                  <a:tcPr marT="27432" marB="27432" anchor="ctr">
                    <a:solidFill>
                      <a:srgbClr val="FFFFFF"/>
                    </a:solidFill>
                  </a:tcPr>
                </a:tc>
                <a:extLst>
                  <a:ext uri="{0D108BD9-81ED-4DB2-BD59-A6C34878D82A}">
                    <a16:rowId xmlns:a16="http://schemas.microsoft.com/office/drawing/2014/main" val="10001"/>
                  </a:ext>
                </a:extLst>
              </a:tr>
              <a:tr h="457200">
                <a:tc>
                  <a:txBody>
                    <a:bodyPr/>
                    <a:lstStyle/>
                    <a:p>
                      <a:r>
                        <a:rPr sz="1600" b="0">
                          <a:solidFill>
                            <a:srgbClr val="1A1A1A"/>
                          </a:solidFill>
                          <a:latin typeface="Tw Cen MT"/>
                        </a:rPr>
                        <a:t>Names missing / extra spaces</a:t>
                      </a:r>
                    </a:p>
                  </a:txBody>
                  <a:tcPr marT="27432" marB="27432" anchor="ctr">
                    <a:solidFill>
                      <a:srgbClr val="F4F6F1"/>
                    </a:solidFill>
                  </a:tcPr>
                </a:tc>
                <a:tc>
                  <a:txBody>
                    <a:bodyPr/>
                    <a:lstStyle/>
                    <a:p>
                      <a:pPr algn="r"/>
                      <a:r>
                        <a:rPr sz="1600" b="0">
                          <a:solidFill>
                            <a:srgbClr val="1A1A1A"/>
                          </a:solidFill>
                          <a:latin typeface="Tw Cen MT"/>
                        </a:rPr>
                        <a:t>16 / 254</a:t>
                      </a:r>
                    </a:p>
                  </a:txBody>
                  <a:tcPr marT="27432" marB="27432" anchor="ctr">
                    <a:solidFill>
                      <a:srgbClr val="F4F6F1"/>
                    </a:solidFill>
                  </a:tcPr>
                </a:tc>
                <a:tc>
                  <a:txBody>
                    <a:bodyPr/>
                    <a:lstStyle/>
                    <a:p>
                      <a:r>
                        <a:rPr sz="1600" b="0">
                          <a:solidFill>
                            <a:srgbClr val="1A1A1A"/>
                          </a:solidFill>
                          <a:latin typeface="Tw Cen MT"/>
                        </a:rPr>
                        <a:t>filled / trimmed</a:t>
                      </a:r>
                    </a:p>
                  </a:txBody>
                  <a:tcPr marT="27432" marB="27432" anchor="ctr">
                    <a:solidFill>
                      <a:srgbClr val="F4F6F1"/>
                    </a:solidFill>
                  </a:tcPr>
                </a:tc>
                <a:extLst>
                  <a:ext uri="{0D108BD9-81ED-4DB2-BD59-A6C34878D82A}">
                    <a16:rowId xmlns:a16="http://schemas.microsoft.com/office/drawing/2014/main" val="10002"/>
                  </a:ext>
                </a:extLst>
              </a:tr>
              <a:tr h="457200">
                <a:tc>
                  <a:txBody>
                    <a:bodyPr/>
                    <a:lstStyle/>
                    <a:p>
                      <a:r>
                        <a:rPr sz="1600" b="0">
                          <a:solidFill>
                            <a:srgbClr val="1A1A1A"/>
                          </a:solidFill>
                          <a:latin typeface="Tw Cen MT"/>
                        </a:rPr>
                        <a:t>Host name missing</a:t>
                      </a:r>
                    </a:p>
                  </a:txBody>
                  <a:tcPr marT="27432" marB="27432" anchor="ctr">
                    <a:solidFill>
                      <a:srgbClr val="FFFFFF"/>
                    </a:solidFill>
                  </a:tcPr>
                </a:tc>
                <a:tc>
                  <a:txBody>
                    <a:bodyPr/>
                    <a:lstStyle/>
                    <a:p>
                      <a:pPr algn="r"/>
                      <a:r>
                        <a:rPr sz="1600" b="0">
                          <a:solidFill>
                            <a:srgbClr val="1A1A1A"/>
                          </a:solidFill>
                          <a:latin typeface="Tw Cen MT"/>
                        </a:rPr>
                        <a:t>21</a:t>
                      </a:r>
                    </a:p>
                  </a:txBody>
                  <a:tcPr marT="27432" marB="27432" anchor="ctr">
                    <a:solidFill>
                      <a:srgbClr val="FFFFFF"/>
                    </a:solidFill>
                  </a:tcPr>
                </a:tc>
                <a:tc>
                  <a:txBody>
                    <a:bodyPr/>
                    <a:lstStyle/>
                    <a:p>
                      <a:r>
                        <a:rPr sz="1600" b="0">
                          <a:solidFill>
                            <a:srgbClr val="1A1A1A"/>
                          </a:solidFill>
                          <a:latin typeface="Tw Cen MT"/>
                        </a:rPr>
                        <a:t>column dropped</a:t>
                      </a:r>
                    </a:p>
                  </a:txBody>
                  <a:tcPr marT="27432" marB="27432" anchor="ctr">
                    <a:solidFill>
                      <a:srgbClr val="FFFFFF"/>
                    </a:solidFill>
                  </a:tcPr>
                </a:tc>
                <a:extLst>
                  <a:ext uri="{0D108BD9-81ED-4DB2-BD59-A6C34878D82A}">
                    <a16:rowId xmlns:a16="http://schemas.microsoft.com/office/drawing/2014/main" val="10003"/>
                  </a:ext>
                </a:extLst>
              </a:tr>
              <a:tr h="457200">
                <a:tc>
                  <a:txBody>
                    <a:bodyPr/>
                    <a:lstStyle/>
                    <a:p>
                      <a:r>
                        <a:rPr sz="1600" b="0">
                          <a:solidFill>
                            <a:srgbClr val="1A1A1A"/>
                          </a:solidFill>
                          <a:latin typeface="Tw Cen MT"/>
                        </a:rPr>
                        <a:t>Price = $0</a:t>
                      </a:r>
                    </a:p>
                  </a:txBody>
                  <a:tcPr marT="27432" marB="27432" anchor="ctr">
                    <a:solidFill>
                      <a:srgbClr val="F4F6F1"/>
                    </a:solidFill>
                  </a:tcPr>
                </a:tc>
                <a:tc>
                  <a:txBody>
                    <a:bodyPr/>
                    <a:lstStyle/>
                    <a:p>
                      <a:pPr algn="r"/>
                      <a:r>
                        <a:rPr sz="1600" b="0">
                          <a:solidFill>
                            <a:srgbClr val="1A1A1A"/>
                          </a:solidFill>
                          <a:latin typeface="Tw Cen MT"/>
                        </a:rPr>
                        <a:t>11</a:t>
                      </a:r>
                    </a:p>
                  </a:txBody>
                  <a:tcPr marT="27432" marB="27432" anchor="ctr">
                    <a:solidFill>
                      <a:srgbClr val="F4F6F1"/>
                    </a:solidFill>
                  </a:tcPr>
                </a:tc>
                <a:tc>
                  <a:txBody>
                    <a:bodyPr/>
                    <a:lstStyle/>
                    <a:p>
                      <a:r>
                        <a:rPr sz="1600" b="0">
                          <a:solidFill>
                            <a:srgbClr val="1A1A1A"/>
                          </a:solidFill>
                          <a:latin typeface="Tw Cen MT"/>
                        </a:rPr>
                        <a:t>removed</a:t>
                      </a:r>
                    </a:p>
                  </a:txBody>
                  <a:tcPr marT="27432" marB="27432" anchor="ctr">
                    <a:solidFill>
                      <a:srgbClr val="F4F6F1"/>
                    </a:solidFill>
                  </a:tcPr>
                </a:tc>
                <a:extLst>
                  <a:ext uri="{0D108BD9-81ED-4DB2-BD59-A6C34878D82A}">
                    <a16:rowId xmlns:a16="http://schemas.microsoft.com/office/drawing/2014/main" val="10004"/>
                  </a:ext>
                </a:extLst>
              </a:tr>
              <a:tr h="457200">
                <a:tc>
                  <a:txBody>
                    <a:bodyPr/>
                    <a:lstStyle/>
                    <a:p>
                      <a:r>
                        <a:rPr sz="1600" b="0">
                          <a:solidFill>
                            <a:srgbClr val="1A1A1A"/>
                          </a:solidFill>
                          <a:latin typeface="Tw Cen MT"/>
                        </a:rPr>
                        <a:t>Price above $1,000</a:t>
                      </a:r>
                    </a:p>
                  </a:txBody>
                  <a:tcPr marT="27432" marB="27432" anchor="ctr">
                    <a:solidFill>
                      <a:srgbClr val="FFFFFF"/>
                    </a:solidFill>
                  </a:tcPr>
                </a:tc>
                <a:tc>
                  <a:txBody>
                    <a:bodyPr/>
                    <a:lstStyle/>
                    <a:p>
                      <a:pPr algn="r"/>
                      <a:r>
                        <a:rPr sz="1600" b="0">
                          <a:solidFill>
                            <a:srgbClr val="1A1A1A"/>
                          </a:solidFill>
                          <a:latin typeface="Tw Cen MT"/>
                        </a:rPr>
                        <a:t>239</a:t>
                      </a:r>
                    </a:p>
                  </a:txBody>
                  <a:tcPr marT="27432" marB="27432" anchor="ctr">
                    <a:solidFill>
                      <a:srgbClr val="FFFFFF"/>
                    </a:solidFill>
                  </a:tcPr>
                </a:tc>
                <a:tc>
                  <a:txBody>
                    <a:bodyPr/>
                    <a:lstStyle/>
                    <a:p>
                      <a:r>
                        <a:rPr sz="1600" b="0">
                          <a:solidFill>
                            <a:srgbClr val="1A1A1A"/>
                          </a:solidFill>
                          <a:latin typeface="Tw Cen MT"/>
                        </a:rPr>
                        <a:t>removed</a:t>
                      </a:r>
                    </a:p>
                  </a:txBody>
                  <a:tcPr marT="27432" marB="27432" anchor="ctr">
                    <a:solidFill>
                      <a:srgbClr val="FFFFFF"/>
                    </a:solidFill>
                  </a:tcPr>
                </a:tc>
                <a:extLst>
                  <a:ext uri="{0D108BD9-81ED-4DB2-BD59-A6C34878D82A}">
                    <a16:rowId xmlns:a16="http://schemas.microsoft.com/office/drawing/2014/main" val="10005"/>
                  </a:ext>
                </a:extLst>
              </a:tr>
              <a:tr h="457200">
                <a:tc>
                  <a:txBody>
                    <a:bodyPr/>
                    <a:lstStyle/>
                    <a:p>
                      <a:r>
                        <a:rPr sz="1600" b="0">
                          <a:solidFill>
                            <a:srgbClr val="1A1A1A"/>
                          </a:solidFill>
                          <a:latin typeface="Tw Cen MT"/>
                        </a:rPr>
                        <a:t>Minimum stay above 365 nights</a:t>
                      </a:r>
                    </a:p>
                  </a:txBody>
                  <a:tcPr marT="27432" marB="27432" anchor="ctr">
                    <a:solidFill>
                      <a:srgbClr val="F4F6F1"/>
                    </a:solidFill>
                  </a:tcPr>
                </a:tc>
                <a:tc>
                  <a:txBody>
                    <a:bodyPr/>
                    <a:lstStyle/>
                    <a:p>
                      <a:pPr algn="r"/>
                      <a:r>
                        <a:rPr sz="1600" b="0">
                          <a:solidFill>
                            <a:srgbClr val="1A1A1A"/>
                          </a:solidFill>
                          <a:latin typeface="Tw Cen MT"/>
                        </a:rPr>
                        <a:t>14</a:t>
                      </a:r>
                    </a:p>
                  </a:txBody>
                  <a:tcPr marT="27432" marB="27432" anchor="ctr">
                    <a:solidFill>
                      <a:srgbClr val="F4F6F1"/>
                    </a:solidFill>
                  </a:tcPr>
                </a:tc>
                <a:tc>
                  <a:txBody>
                    <a:bodyPr/>
                    <a:lstStyle/>
                    <a:p>
                      <a:r>
                        <a:rPr sz="1600" b="0">
                          <a:solidFill>
                            <a:srgbClr val="1A1A1A"/>
                          </a:solidFill>
                          <a:latin typeface="Tw Cen MT"/>
                        </a:rPr>
                        <a:t>capped at 365</a:t>
                      </a:r>
                    </a:p>
                  </a:txBody>
                  <a:tcPr marT="27432" marB="27432" anchor="ctr">
                    <a:solidFill>
                      <a:srgbClr val="F4F6F1"/>
                    </a:solidFill>
                  </a:tcPr>
                </a:tc>
                <a:extLst>
                  <a:ext uri="{0D108BD9-81ED-4DB2-BD59-A6C34878D82A}">
                    <a16:rowId xmlns:a16="http://schemas.microsoft.com/office/drawing/2014/main" val="10006"/>
                  </a:ext>
                </a:extLst>
              </a:tr>
              <a:tr h="457200">
                <a:tc>
                  <a:txBody>
                    <a:bodyPr/>
                    <a:lstStyle/>
                    <a:p>
                      <a:r>
                        <a:rPr sz="1600" b="0">
                          <a:solidFill>
                            <a:srgbClr val="1A1A1A"/>
                          </a:solidFill>
                          <a:latin typeface="Tw Cen MT"/>
                        </a:rPr>
                        <a:t>Duplicates</a:t>
                      </a:r>
                    </a:p>
                  </a:txBody>
                  <a:tcPr marT="27432" marB="27432" anchor="ctr">
                    <a:solidFill>
                      <a:srgbClr val="FFFFFF"/>
                    </a:solidFill>
                  </a:tcPr>
                </a:tc>
                <a:tc>
                  <a:txBody>
                    <a:bodyPr/>
                    <a:lstStyle/>
                    <a:p>
                      <a:pPr algn="r"/>
                      <a:r>
                        <a:rPr sz="1600" b="0">
                          <a:solidFill>
                            <a:srgbClr val="1A1A1A"/>
                          </a:solidFill>
                          <a:latin typeface="Tw Cen MT"/>
                        </a:rPr>
                        <a:t>0</a:t>
                      </a:r>
                    </a:p>
                  </a:txBody>
                  <a:tcPr marT="27432" marB="27432" anchor="ctr">
                    <a:solidFill>
                      <a:srgbClr val="FFFFFF"/>
                    </a:solidFill>
                  </a:tcPr>
                </a:tc>
                <a:tc>
                  <a:txBody>
                    <a:bodyPr/>
                    <a:lstStyle/>
                    <a:p>
                      <a:r>
                        <a:rPr sz="1600" b="0">
                          <a:solidFill>
                            <a:srgbClr val="1A1A1A"/>
                          </a:solidFill>
                          <a:latin typeface="Tw Cen MT"/>
                        </a:rPr>
                        <a:t>none found</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8001000" y="1600200"/>
            <a:ext cx="3200400" cy="731520"/>
          </a:xfrm>
          <a:prstGeom prst="rect">
            <a:avLst/>
          </a:prstGeom>
          <a:noFill/>
        </p:spPr>
        <p:txBody>
          <a:bodyPr wrap="square" lIns="0" tIns="0" rIns="0" bIns="0" anchor="t">
            <a:spAutoFit/>
          </a:bodyPr>
          <a:lstStyle/>
          <a:p>
            <a:pPr algn="l">
              <a:spcAft>
                <a:spcPts val="400"/>
              </a:spcAft>
            </a:pPr>
            <a:r>
              <a:rPr sz="3200" b="1" i="0">
                <a:solidFill>
                  <a:srgbClr val="63A537"/>
                </a:solidFill>
                <a:latin typeface="Tw Cen MT Condensed"/>
              </a:rPr>
              <a:t>48,895 → 48,645</a:t>
            </a:r>
          </a:p>
        </p:txBody>
      </p:sp>
      <p:sp>
        <p:nvSpPr>
          <p:cNvPr id="10" name="TextBox 9"/>
          <p:cNvSpPr txBox="1"/>
          <p:nvPr/>
        </p:nvSpPr>
        <p:spPr>
          <a:xfrm>
            <a:off x="8001000" y="2350008"/>
            <a:ext cx="320040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listings, 99.49 % kept</a:t>
            </a:r>
          </a:p>
        </p:txBody>
      </p:sp>
      <p:sp>
        <p:nvSpPr>
          <p:cNvPr id="11" name="TextBox 10"/>
          <p:cNvSpPr txBox="1"/>
          <p:nvPr/>
        </p:nvSpPr>
        <p:spPr>
          <a:xfrm>
            <a:off x="8001000" y="3063240"/>
            <a:ext cx="3200400" cy="731520"/>
          </a:xfrm>
          <a:prstGeom prst="rect">
            <a:avLst/>
          </a:prstGeom>
          <a:noFill/>
        </p:spPr>
        <p:txBody>
          <a:bodyPr wrap="square" lIns="0" tIns="0" rIns="0" bIns="0" anchor="t">
            <a:spAutoFit/>
          </a:bodyPr>
          <a:lstStyle/>
          <a:p>
            <a:pPr algn="l">
              <a:spcAft>
                <a:spcPts val="400"/>
              </a:spcAft>
            </a:pPr>
            <a:r>
              <a:rPr sz="3800" b="1" i="0">
                <a:solidFill>
                  <a:srgbClr val="0E3A73"/>
                </a:solidFill>
                <a:latin typeface="Tw Cen MT Condensed"/>
              </a:rPr>
              <a:t>16 → 29</a:t>
            </a:r>
          </a:p>
        </p:txBody>
      </p:sp>
      <p:sp>
        <p:nvSpPr>
          <p:cNvPr id="12" name="TextBox 11"/>
          <p:cNvSpPr txBox="1"/>
          <p:nvPr/>
        </p:nvSpPr>
        <p:spPr>
          <a:xfrm>
            <a:off x="8001000" y="3813048"/>
            <a:ext cx="3200400" cy="68580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columns: 1 dropped, 14 derived (bands, host size, recency)</a:t>
            </a:r>
          </a:p>
        </p:txBody>
      </p:sp>
      <p:sp>
        <p:nvSpPr>
          <p:cNvPr id="13" name="TextBox 12"/>
          <p:cNvSpPr txBox="1"/>
          <p:nvPr/>
        </p:nvSpPr>
        <p:spPr>
          <a:xfrm>
            <a:off x="8001000" y="4526280"/>
            <a:ext cx="3200400" cy="731520"/>
          </a:xfrm>
          <a:prstGeom prst="rect">
            <a:avLst/>
          </a:prstGeom>
          <a:noFill/>
        </p:spPr>
        <p:txBody>
          <a:bodyPr wrap="square" lIns="0" tIns="0" rIns="0" bIns="0" anchor="t">
            <a:spAutoFit/>
          </a:bodyPr>
          <a:lstStyle/>
          <a:p>
            <a:pPr algn="l">
              <a:spcAft>
                <a:spcPts val="400"/>
              </a:spcAft>
            </a:pPr>
            <a:r>
              <a:rPr sz="3800" b="1" i="0">
                <a:solidFill>
                  <a:srgbClr val="0E3A73"/>
                </a:solidFill>
                <a:latin typeface="Tw Cen MT Condensed"/>
              </a:rPr>
              <a:t>$106 → $105</a:t>
            </a:r>
          </a:p>
        </p:txBody>
      </p:sp>
      <p:sp>
        <p:nvSpPr>
          <p:cNvPr id="14" name="TextBox 13"/>
          <p:cNvSpPr txBox="1"/>
          <p:nvPr/>
        </p:nvSpPr>
        <p:spPr>
          <a:xfrm>
            <a:off x="8001000" y="5276088"/>
            <a:ext cx="320040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median price before and after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Key figures of the market</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A typical night costs $105; 60 % of the listings were reviewed in the last 12 months.</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KPIS</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6</a:t>
            </a:fld>
            <a:endParaRPr sz="1200" b="0" i="0">
              <a:solidFill>
                <a:srgbClr val="595959"/>
              </a:solidFill>
              <a:latin typeface="Tw Cen MT"/>
            </a:endParaRPr>
          </a:p>
        </p:txBody>
      </p:sp>
      <p:sp>
        <p:nvSpPr>
          <p:cNvPr id="8" name="Rounded Rectangle 7"/>
          <p:cNvSpPr/>
          <p:nvPr/>
        </p:nvSpPr>
        <p:spPr>
          <a:xfrm>
            <a:off x="1024128" y="160020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98448" y="1828800"/>
            <a:ext cx="2743200" cy="822960"/>
          </a:xfrm>
          <a:prstGeom prst="rect">
            <a:avLst/>
          </a:prstGeom>
          <a:noFill/>
        </p:spPr>
        <p:txBody>
          <a:bodyPr wrap="square" lIns="0" tIns="0" rIns="0" bIns="0" anchor="t">
            <a:spAutoFit/>
          </a:bodyPr>
          <a:lstStyle/>
          <a:p>
            <a:pPr algn="l">
              <a:spcAft>
                <a:spcPts val="400"/>
              </a:spcAft>
            </a:pPr>
            <a:r>
              <a:rPr sz="4800" b="1" i="0">
                <a:solidFill>
                  <a:srgbClr val="0E3A73"/>
                </a:solidFill>
                <a:latin typeface="Tw Cen MT Condensed"/>
              </a:rPr>
              <a:t>48,645</a:t>
            </a:r>
          </a:p>
        </p:txBody>
      </p:sp>
      <p:sp>
        <p:nvSpPr>
          <p:cNvPr id="10" name="TextBox 9"/>
          <p:cNvSpPr txBox="1"/>
          <p:nvPr/>
        </p:nvSpPr>
        <p:spPr>
          <a:xfrm>
            <a:off x="1298448" y="269748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listings in 221 neighbourhoods</a:t>
            </a:r>
          </a:p>
        </p:txBody>
      </p:sp>
      <p:sp>
        <p:nvSpPr>
          <p:cNvPr id="11" name="Rounded Rectangle 10"/>
          <p:cNvSpPr/>
          <p:nvPr/>
        </p:nvSpPr>
        <p:spPr>
          <a:xfrm>
            <a:off x="4498848" y="160020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773168" y="1828800"/>
            <a:ext cx="2743200" cy="822960"/>
          </a:xfrm>
          <a:prstGeom prst="rect">
            <a:avLst/>
          </a:prstGeom>
          <a:noFill/>
        </p:spPr>
        <p:txBody>
          <a:bodyPr wrap="square" lIns="0" tIns="0" rIns="0" bIns="0" anchor="t">
            <a:spAutoFit/>
          </a:bodyPr>
          <a:lstStyle/>
          <a:p>
            <a:pPr algn="l">
              <a:spcAft>
                <a:spcPts val="400"/>
              </a:spcAft>
            </a:pPr>
            <a:r>
              <a:rPr sz="4800" b="1" i="0">
                <a:solidFill>
                  <a:srgbClr val="0E3A73"/>
                </a:solidFill>
                <a:latin typeface="Tw Cen MT Condensed"/>
              </a:rPr>
              <a:t>37,283</a:t>
            </a:r>
          </a:p>
        </p:txBody>
      </p:sp>
      <p:sp>
        <p:nvSpPr>
          <p:cNvPr id="13" name="TextBox 12"/>
          <p:cNvSpPr txBox="1"/>
          <p:nvPr/>
        </p:nvSpPr>
        <p:spPr>
          <a:xfrm>
            <a:off x="4773168" y="269748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hosts</a:t>
            </a:r>
          </a:p>
        </p:txBody>
      </p:sp>
      <p:sp>
        <p:nvSpPr>
          <p:cNvPr id="14" name="Rounded Rectangle 13"/>
          <p:cNvSpPr/>
          <p:nvPr/>
        </p:nvSpPr>
        <p:spPr>
          <a:xfrm>
            <a:off x="7973568" y="160020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47888" y="1828800"/>
            <a:ext cx="2743200" cy="822960"/>
          </a:xfrm>
          <a:prstGeom prst="rect">
            <a:avLst/>
          </a:prstGeom>
          <a:noFill/>
        </p:spPr>
        <p:txBody>
          <a:bodyPr wrap="square" lIns="0" tIns="0" rIns="0" bIns="0" anchor="t">
            <a:spAutoFit/>
          </a:bodyPr>
          <a:lstStyle/>
          <a:p>
            <a:pPr algn="l">
              <a:spcAft>
                <a:spcPts val="400"/>
              </a:spcAft>
            </a:pPr>
            <a:r>
              <a:rPr sz="4800" b="1" i="0">
                <a:solidFill>
                  <a:srgbClr val="2A78D6"/>
                </a:solidFill>
                <a:latin typeface="Tw Cen MT Condensed"/>
              </a:rPr>
              <a:t>$105</a:t>
            </a:r>
          </a:p>
        </p:txBody>
      </p:sp>
      <p:sp>
        <p:nvSpPr>
          <p:cNvPr id="16" name="TextBox 15"/>
          <p:cNvSpPr txBox="1"/>
          <p:nvPr/>
        </p:nvSpPr>
        <p:spPr>
          <a:xfrm>
            <a:off x="8247888" y="269748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median price per night (mean $141)</a:t>
            </a:r>
          </a:p>
        </p:txBody>
      </p:sp>
      <p:sp>
        <p:nvSpPr>
          <p:cNvPr id="17" name="Rounded Rectangle 16"/>
          <p:cNvSpPr/>
          <p:nvPr/>
        </p:nvSpPr>
        <p:spPr>
          <a:xfrm>
            <a:off x="1024128" y="361188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298448" y="3840480"/>
            <a:ext cx="2743200" cy="822960"/>
          </a:xfrm>
          <a:prstGeom prst="rect">
            <a:avLst/>
          </a:prstGeom>
          <a:noFill/>
        </p:spPr>
        <p:txBody>
          <a:bodyPr wrap="square" lIns="0" tIns="0" rIns="0" bIns="0" anchor="t">
            <a:spAutoFit/>
          </a:bodyPr>
          <a:lstStyle/>
          <a:p>
            <a:pPr algn="l">
              <a:spcAft>
                <a:spcPts val="400"/>
              </a:spcAft>
            </a:pPr>
            <a:r>
              <a:rPr sz="4800" b="1" i="0">
                <a:solidFill>
                  <a:srgbClr val="2A78D6"/>
                </a:solidFill>
                <a:latin typeface="Tw Cen MT Condensed"/>
              </a:rPr>
              <a:t>1.14 M</a:t>
            </a:r>
          </a:p>
        </p:txBody>
      </p:sp>
      <p:sp>
        <p:nvSpPr>
          <p:cNvPr id="19" name="TextBox 18"/>
          <p:cNvSpPr txBox="1"/>
          <p:nvPr/>
        </p:nvSpPr>
        <p:spPr>
          <a:xfrm>
            <a:off x="1298448" y="470916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reviews in total</a:t>
            </a:r>
          </a:p>
        </p:txBody>
      </p:sp>
      <p:sp>
        <p:nvSpPr>
          <p:cNvPr id="20" name="Rounded Rectangle 19"/>
          <p:cNvSpPr/>
          <p:nvPr/>
        </p:nvSpPr>
        <p:spPr>
          <a:xfrm>
            <a:off x="4498848" y="361188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773168" y="3840480"/>
            <a:ext cx="2743200" cy="822960"/>
          </a:xfrm>
          <a:prstGeom prst="rect">
            <a:avLst/>
          </a:prstGeom>
          <a:noFill/>
        </p:spPr>
        <p:txBody>
          <a:bodyPr wrap="square" lIns="0" tIns="0" rIns="0" bIns="0" anchor="t">
            <a:spAutoFit/>
          </a:bodyPr>
          <a:lstStyle/>
          <a:p>
            <a:pPr algn="l">
              <a:spcAft>
                <a:spcPts val="400"/>
              </a:spcAft>
            </a:pPr>
            <a:r>
              <a:rPr sz="4800" b="1" i="0">
                <a:solidFill>
                  <a:srgbClr val="63A537"/>
                </a:solidFill>
                <a:latin typeface="Tw Cen MT Condensed"/>
              </a:rPr>
              <a:t>59.8 %</a:t>
            </a:r>
          </a:p>
        </p:txBody>
      </p:sp>
      <p:sp>
        <p:nvSpPr>
          <p:cNvPr id="22" name="TextBox 21"/>
          <p:cNvSpPr txBox="1"/>
          <p:nvPr/>
        </p:nvSpPr>
        <p:spPr>
          <a:xfrm>
            <a:off x="4773168" y="470916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listings active in the last 12 months</a:t>
            </a:r>
          </a:p>
        </p:txBody>
      </p:sp>
      <p:sp>
        <p:nvSpPr>
          <p:cNvPr id="23" name="Rounded Rectangle 22"/>
          <p:cNvSpPr/>
          <p:nvPr/>
        </p:nvSpPr>
        <p:spPr>
          <a:xfrm>
            <a:off x="7973568" y="3611880"/>
            <a:ext cx="3200400" cy="1783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47888" y="3840480"/>
            <a:ext cx="2743200" cy="822960"/>
          </a:xfrm>
          <a:prstGeom prst="rect">
            <a:avLst/>
          </a:prstGeom>
          <a:noFill/>
        </p:spPr>
        <p:txBody>
          <a:bodyPr wrap="square" lIns="0" tIns="0" rIns="0" bIns="0" anchor="t">
            <a:spAutoFit/>
          </a:bodyPr>
          <a:lstStyle/>
          <a:p>
            <a:pPr algn="l">
              <a:spcAft>
                <a:spcPts val="400"/>
              </a:spcAft>
            </a:pPr>
            <a:r>
              <a:rPr sz="4800" b="1" i="0">
                <a:solidFill>
                  <a:srgbClr val="63A537"/>
                </a:solidFill>
                <a:latin typeface="Tw Cen MT Condensed"/>
              </a:rPr>
              <a:t>33.9 %</a:t>
            </a:r>
          </a:p>
        </p:txBody>
      </p:sp>
      <p:sp>
        <p:nvSpPr>
          <p:cNvPr id="25" name="TextBox 24"/>
          <p:cNvSpPr txBox="1"/>
          <p:nvPr/>
        </p:nvSpPr>
        <p:spPr>
          <a:xfrm>
            <a:off x="8247888" y="4709160"/>
            <a:ext cx="2743200" cy="54864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listings of multi-listing hosts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1: listing types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Two products: an entire home (median $160) and a private room ($70).</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1</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7</a:t>
            </a:fld>
            <a:endParaRPr sz="1200" b="0" i="0">
              <a:solidFill>
                <a:srgbClr val="595959"/>
              </a:solidFill>
              <a:latin typeface="Tw Cen MT"/>
            </a:endParaRPr>
          </a:p>
        </p:txBody>
      </p:sp>
      <p:graphicFrame>
        <p:nvGraphicFramePr>
          <p:cNvPr id="8" name="Chart 7"/>
          <p:cNvGraphicFramePr>
            <a:graphicFrameLocks noGrp="1"/>
          </p:cNvGraphicFramePr>
          <p:nvPr/>
        </p:nvGraphicFramePr>
        <p:xfrm>
          <a:off x="1024128" y="1508760"/>
          <a:ext cx="6035040" cy="416052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7589520" y="1600200"/>
            <a:ext cx="3566160" cy="731520"/>
          </a:xfrm>
          <a:prstGeom prst="rect">
            <a:avLst/>
          </a:prstGeom>
          <a:noFill/>
        </p:spPr>
        <p:txBody>
          <a:bodyPr wrap="square" lIns="0" tIns="0" rIns="0" bIns="0" anchor="t">
            <a:spAutoFit/>
          </a:bodyPr>
          <a:lstStyle/>
          <a:p>
            <a:pPr algn="l">
              <a:spcAft>
                <a:spcPts val="400"/>
              </a:spcAft>
            </a:pPr>
            <a:r>
              <a:rPr sz="4400" b="1" i="0">
                <a:solidFill>
                  <a:srgbClr val="E8474D"/>
                </a:solidFill>
                <a:latin typeface="Tw Cen MT Condensed"/>
              </a:rPr>
              <a:t>51.8 %</a:t>
            </a:r>
          </a:p>
        </p:txBody>
      </p:sp>
      <p:sp>
        <p:nvSpPr>
          <p:cNvPr id="10" name="TextBox 9"/>
          <p:cNvSpPr txBox="1"/>
          <p:nvPr/>
        </p:nvSpPr>
        <p:spPr>
          <a:xfrm>
            <a:off x="7589520" y="2350008"/>
            <a:ext cx="356616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entire homes, median $160 a night</a:t>
            </a:r>
          </a:p>
        </p:txBody>
      </p:sp>
      <p:sp>
        <p:nvSpPr>
          <p:cNvPr id="11" name="TextBox 10"/>
          <p:cNvSpPr txBox="1"/>
          <p:nvPr/>
        </p:nvSpPr>
        <p:spPr>
          <a:xfrm>
            <a:off x="7589520" y="2971800"/>
            <a:ext cx="3566160" cy="731520"/>
          </a:xfrm>
          <a:prstGeom prst="rect">
            <a:avLst/>
          </a:prstGeom>
          <a:noFill/>
        </p:spPr>
        <p:txBody>
          <a:bodyPr wrap="square" lIns="0" tIns="0" rIns="0" bIns="0" anchor="t">
            <a:spAutoFit/>
          </a:bodyPr>
          <a:lstStyle/>
          <a:p>
            <a:pPr algn="l">
              <a:spcAft>
                <a:spcPts val="400"/>
              </a:spcAft>
            </a:pPr>
            <a:r>
              <a:rPr sz="4400" b="1" i="0">
                <a:solidFill>
                  <a:srgbClr val="1597B8"/>
                </a:solidFill>
                <a:latin typeface="Tw Cen MT Condensed"/>
              </a:rPr>
              <a:t>45.8 %</a:t>
            </a:r>
          </a:p>
        </p:txBody>
      </p:sp>
      <p:sp>
        <p:nvSpPr>
          <p:cNvPr id="12" name="TextBox 11"/>
          <p:cNvSpPr txBox="1"/>
          <p:nvPr/>
        </p:nvSpPr>
        <p:spPr>
          <a:xfrm>
            <a:off x="7589520" y="3721608"/>
            <a:ext cx="356616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private rooms, median $70 a night</a:t>
            </a:r>
          </a:p>
        </p:txBody>
      </p:sp>
      <p:sp>
        <p:nvSpPr>
          <p:cNvPr id="13" name="TextBox 12"/>
          <p:cNvSpPr txBox="1"/>
          <p:nvPr/>
        </p:nvSpPr>
        <p:spPr>
          <a:xfrm>
            <a:off x="7589520" y="4343400"/>
            <a:ext cx="3566160" cy="731520"/>
          </a:xfrm>
          <a:prstGeom prst="rect">
            <a:avLst/>
          </a:prstGeom>
          <a:noFill/>
        </p:spPr>
        <p:txBody>
          <a:bodyPr wrap="square" lIns="0" tIns="0" rIns="0" bIns="0" anchor="t">
            <a:spAutoFit/>
          </a:bodyPr>
          <a:lstStyle/>
          <a:p>
            <a:pPr algn="l">
              <a:spcAft>
                <a:spcPts val="400"/>
              </a:spcAft>
            </a:pPr>
            <a:r>
              <a:rPr sz="4400" b="1" i="0">
                <a:solidFill>
                  <a:srgbClr val="595959"/>
                </a:solidFill>
                <a:latin typeface="Tw Cen MT Condensed"/>
              </a:rPr>
              <a:t>2.4 %</a:t>
            </a:r>
          </a:p>
        </p:txBody>
      </p:sp>
      <p:sp>
        <p:nvSpPr>
          <p:cNvPr id="14" name="TextBox 13"/>
          <p:cNvSpPr txBox="1"/>
          <p:nvPr/>
        </p:nvSpPr>
        <p:spPr>
          <a:xfrm>
            <a:off x="7589520" y="5093208"/>
            <a:ext cx="356616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shared rooms, median $45 a night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2: the most active areas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Brooklyn has fewer listings than Manhattan but receives more reviews.</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2</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8</a:t>
            </a:fld>
            <a:endParaRPr sz="1200" b="0" i="0">
              <a:solidFill>
                <a:srgbClr val="595959"/>
              </a:solidFill>
              <a:latin typeface="Tw Cen MT"/>
            </a:endParaRPr>
          </a:p>
        </p:txBody>
      </p:sp>
      <p:graphicFrame>
        <p:nvGraphicFramePr>
          <p:cNvPr id="8" name="Chart 7"/>
          <p:cNvGraphicFramePr>
            <a:graphicFrameLocks noGrp="1"/>
          </p:cNvGraphicFramePr>
          <p:nvPr/>
        </p:nvGraphicFramePr>
        <p:xfrm>
          <a:off x="1024128" y="1463040"/>
          <a:ext cx="6309360" cy="42519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7680960" y="1554480"/>
            <a:ext cx="3474720" cy="411480"/>
          </a:xfrm>
          <a:prstGeom prst="rect">
            <a:avLst/>
          </a:prstGeom>
          <a:noFill/>
        </p:spPr>
        <p:txBody>
          <a:bodyPr wrap="square" lIns="0" tIns="0" rIns="0" bIns="0" anchor="t">
            <a:spAutoFit/>
          </a:bodyPr>
          <a:lstStyle/>
          <a:p>
            <a:pPr algn="l">
              <a:spcAft>
                <a:spcPts val="400"/>
              </a:spcAft>
            </a:pPr>
            <a:r>
              <a:rPr sz="2000" b="1" i="0">
                <a:solidFill>
                  <a:srgbClr val="1A1A1A"/>
                </a:solidFill>
                <a:latin typeface="Tw Cen MT"/>
              </a:rPr>
              <a:t>Reviews per listing</a:t>
            </a:r>
          </a:p>
        </p:txBody>
      </p:sp>
      <p:sp>
        <p:nvSpPr>
          <p:cNvPr id="10" name="Rectangle 9"/>
          <p:cNvSpPr/>
          <p:nvPr/>
        </p:nvSpPr>
        <p:spPr>
          <a:xfrm>
            <a:off x="7680960" y="2212848"/>
            <a:ext cx="201168" cy="201168"/>
          </a:xfrm>
          <a:prstGeom prst="rect">
            <a:avLst/>
          </a:prstGeom>
          <a:solidFill>
            <a:srgbClr val="D65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01000" y="2103120"/>
            <a:ext cx="2103120" cy="457200"/>
          </a:xfrm>
          <a:prstGeom prst="rect">
            <a:avLst/>
          </a:prstGeom>
          <a:noFill/>
        </p:spPr>
        <p:txBody>
          <a:bodyPr wrap="square" lIns="0" tIns="0" rIns="0" bIns="0" anchor="t">
            <a:spAutoFit/>
          </a:bodyPr>
          <a:lstStyle/>
          <a:p>
            <a:pPr algn="l">
              <a:spcAft>
                <a:spcPts val="400"/>
              </a:spcAft>
            </a:pPr>
            <a:r>
              <a:rPr sz="1900" b="0" i="0">
                <a:solidFill>
                  <a:srgbClr val="1A1A1A"/>
                </a:solidFill>
                <a:latin typeface="Tw Cen MT"/>
              </a:rPr>
              <a:t>Staten Island</a:t>
            </a:r>
          </a:p>
        </p:txBody>
      </p:sp>
      <p:sp>
        <p:nvSpPr>
          <p:cNvPr id="12" name="TextBox 11"/>
          <p:cNvSpPr txBox="1"/>
          <p:nvPr/>
        </p:nvSpPr>
        <p:spPr>
          <a:xfrm>
            <a:off x="9966960" y="2029967"/>
            <a:ext cx="1188720" cy="548640"/>
          </a:xfrm>
          <a:prstGeom prst="rect">
            <a:avLst/>
          </a:prstGeom>
          <a:noFill/>
        </p:spPr>
        <p:txBody>
          <a:bodyPr wrap="square" lIns="0" tIns="0" rIns="0" bIns="0" anchor="t">
            <a:spAutoFit/>
          </a:bodyPr>
          <a:lstStyle/>
          <a:p>
            <a:pPr algn="r">
              <a:spcAft>
                <a:spcPts val="400"/>
              </a:spcAft>
            </a:pPr>
            <a:r>
              <a:rPr sz="2800" b="1" i="0">
                <a:solidFill>
                  <a:srgbClr val="0E3A73"/>
                </a:solidFill>
                <a:latin typeface="Tw Cen MT Condensed"/>
              </a:rPr>
              <a:t>31.1</a:t>
            </a:r>
          </a:p>
        </p:txBody>
      </p:sp>
      <p:sp>
        <p:nvSpPr>
          <p:cNvPr id="13" name="Rectangle 12"/>
          <p:cNvSpPr/>
          <p:nvPr/>
        </p:nvSpPr>
        <p:spPr>
          <a:xfrm>
            <a:off x="7680960" y="2871215"/>
            <a:ext cx="201168" cy="201168"/>
          </a:xfrm>
          <a:prstGeom prst="rect">
            <a:avLst/>
          </a:prstGeom>
          <a:solidFill>
            <a:srgbClr val="8E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001000" y="2761487"/>
            <a:ext cx="2103120" cy="457200"/>
          </a:xfrm>
          <a:prstGeom prst="rect">
            <a:avLst/>
          </a:prstGeom>
          <a:noFill/>
        </p:spPr>
        <p:txBody>
          <a:bodyPr wrap="square" lIns="0" tIns="0" rIns="0" bIns="0" anchor="t">
            <a:spAutoFit/>
          </a:bodyPr>
          <a:lstStyle/>
          <a:p>
            <a:pPr algn="l">
              <a:spcAft>
                <a:spcPts val="400"/>
              </a:spcAft>
            </a:pPr>
            <a:r>
              <a:rPr sz="1900" b="0" i="0">
                <a:solidFill>
                  <a:srgbClr val="1A1A1A"/>
                </a:solidFill>
                <a:latin typeface="Tw Cen MT"/>
              </a:rPr>
              <a:t>Queens</a:t>
            </a:r>
          </a:p>
        </p:txBody>
      </p:sp>
      <p:sp>
        <p:nvSpPr>
          <p:cNvPr id="15" name="TextBox 14"/>
          <p:cNvSpPr txBox="1"/>
          <p:nvPr/>
        </p:nvSpPr>
        <p:spPr>
          <a:xfrm>
            <a:off x="9966960" y="2688335"/>
            <a:ext cx="1188720" cy="548640"/>
          </a:xfrm>
          <a:prstGeom prst="rect">
            <a:avLst/>
          </a:prstGeom>
          <a:noFill/>
        </p:spPr>
        <p:txBody>
          <a:bodyPr wrap="square" lIns="0" tIns="0" rIns="0" bIns="0" anchor="t">
            <a:spAutoFit/>
          </a:bodyPr>
          <a:lstStyle/>
          <a:p>
            <a:pPr algn="r">
              <a:spcAft>
                <a:spcPts val="400"/>
              </a:spcAft>
            </a:pPr>
            <a:r>
              <a:rPr sz="2800" b="1" i="0">
                <a:solidFill>
                  <a:srgbClr val="0E3A73"/>
                </a:solidFill>
                <a:latin typeface="Tw Cen MT Condensed"/>
              </a:rPr>
              <a:t>27.7</a:t>
            </a:r>
          </a:p>
        </p:txBody>
      </p:sp>
      <p:sp>
        <p:nvSpPr>
          <p:cNvPr id="16" name="Rectangle 15"/>
          <p:cNvSpPr/>
          <p:nvPr/>
        </p:nvSpPr>
        <p:spPr>
          <a:xfrm>
            <a:off x="7680960" y="3529584"/>
            <a:ext cx="201168" cy="201168"/>
          </a:xfrm>
          <a:prstGeom prst="rect">
            <a:avLst/>
          </a:prstGeom>
          <a:solidFill>
            <a:srgbClr val="E0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01000" y="3419856"/>
            <a:ext cx="2103120" cy="457200"/>
          </a:xfrm>
          <a:prstGeom prst="rect">
            <a:avLst/>
          </a:prstGeom>
          <a:noFill/>
        </p:spPr>
        <p:txBody>
          <a:bodyPr wrap="square" lIns="0" tIns="0" rIns="0" bIns="0" anchor="t">
            <a:spAutoFit/>
          </a:bodyPr>
          <a:lstStyle/>
          <a:p>
            <a:pPr algn="l">
              <a:spcAft>
                <a:spcPts val="400"/>
              </a:spcAft>
            </a:pPr>
            <a:r>
              <a:rPr sz="1900" b="0" i="0">
                <a:solidFill>
                  <a:srgbClr val="1A1A1A"/>
                </a:solidFill>
                <a:latin typeface="Tw Cen MT"/>
              </a:rPr>
              <a:t>Bronx</a:t>
            </a:r>
          </a:p>
        </p:txBody>
      </p:sp>
      <p:sp>
        <p:nvSpPr>
          <p:cNvPr id="18" name="TextBox 17"/>
          <p:cNvSpPr txBox="1"/>
          <p:nvPr/>
        </p:nvSpPr>
        <p:spPr>
          <a:xfrm>
            <a:off x="9966960" y="3346703"/>
            <a:ext cx="1188720" cy="548640"/>
          </a:xfrm>
          <a:prstGeom prst="rect">
            <a:avLst/>
          </a:prstGeom>
          <a:noFill/>
        </p:spPr>
        <p:txBody>
          <a:bodyPr wrap="square" lIns="0" tIns="0" rIns="0" bIns="0" anchor="t">
            <a:spAutoFit/>
          </a:bodyPr>
          <a:lstStyle/>
          <a:p>
            <a:pPr algn="r">
              <a:spcAft>
                <a:spcPts val="400"/>
              </a:spcAft>
            </a:pPr>
            <a:r>
              <a:rPr sz="2800" b="1" i="0">
                <a:solidFill>
                  <a:srgbClr val="0E3A73"/>
                </a:solidFill>
                <a:latin typeface="Tw Cen MT Condensed"/>
              </a:rPr>
              <a:t>26.0</a:t>
            </a:r>
          </a:p>
        </p:txBody>
      </p:sp>
      <p:sp>
        <p:nvSpPr>
          <p:cNvPr id="19" name="Rectangle 18"/>
          <p:cNvSpPr/>
          <p:nvPr/>
        </p:nvSpPr>
        <p:spPr>
          <a:xfrm>
            <a:off x="7680960" y="4187952"/>
            <a:ext cx="201168" cy="201168"/>
          </a:xfrm>
          <a:prstGeom prst="rect">
            <a:avLst/>
          </a:prstGeom>
          <a:solidFill>
            <a:srgbClr val="00A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001000" y="4078224"/>
            <a:ext cx="2103120" cy="457200"/>
          </a:xfrm>
          <a:prstGeom prst="rect">
            <a:avLst/>
          </a:prstGeom>
          <a:noFill/>
        </p:spPr>
        <p:txBody>
          <a:bodyPr wrap="square" lIns="0" tIns="0" rIns="0" bIns="0" anchor="t">
            <a:spAutoFit/>
          </a:bodyPr>
          <a:lstStyle/>
          <a:p>
            <a:pPr algn="l">
              <a:spcAft>
                <a:spcPts val="400"/>
              </a:spcAft>
            </a:pPr>
            <a:r>
              <a:rPr sz="1900" b="0" i="0">
                <a:solidFill>
                  <a:srgbClr val="1A1A1A"/>
                </a:solidFill>
                <a:latin typeface="Tw Cen MT"/>
              </a:rPr>
              <a:t>Brooklyn</a:t>
            </a:r>
          </a:p>
        </p:txBody>
      </p:sp>
      <p:sp>
        <p:nvSpPr>
          <p:cNvPr id="21" name="TextBox 20"/>
          <p:cNvSpPr txBox="1"/>
          <p:nvPr/>
        </p:nvSpPr>
        <p:spPr>
          <a:xfrm>
            <a:off x="9966960" y="4005072"/>
            <a:ext cx="1188720" cy="548640"/>
          </a:xfrm>
          <a:prstGeom prst="rect">
            <a:avLst/>
          </a:prstGeom>
          <a:noFill/>
        </p:spPr>
        <p:txBody>
          <a:bodyPr wrap="square" lIns="0" tIns="0" rIns="0" bIns="0" anchor="t">
            <a:spAutoFit/>
          </a:bodyPr>
          <a:lstStyle/>
          <a:p>
            <a:pPr algn="r">
              <a:spcAft>
                <a:spcPts val="400"/>
              </a:spcAft>
            </a:pPr>
            <a:r>
              <a:rPr sz="2800" b="1" i="0">
                <a:solidFill>
                  <a:srgbClr val="0E3A73"/>
                </a:solidFill>
                <a:latin typeface="Tw Cen MT Condensed"/>
              </a:rPr>
              <a:t>24.2</a:t>
            </a:r>
          </a:p>
        </p:txBody>
      </p:sp>
      <p:sp>
        <p:nvSpPr>
          <p:cNvPr id="22" name="Rectangle 21"/>
          <p:cNvSpPr/>
          <p:nvPr/>
        </p:nvSpPr>
        <p:spPr>
          <a:xfrm>
            <a:off x="7680960" y="4846320"/>
            <a:ext cx="201168" cy="201168"/>
          </a:xfrm>
          <a:prstGeom prst="rect">
            <a:avLst/>
          </a:prstGeom>
          <a:solidFill>
            <a:srgbClr val="2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001000" y="4736592"/>
            <a:ext cx="2103120" cy="457200"/>
          </a:xfrm>
          <a:prstGeom prst="rect">
            <a:avLst/>
          </a:prstGeom>
          <a:noFill/>
        </p:spPr>
        <p:txBody>
          <a:bodyPr wrap="square" lIns="0" tIns="0" rIns="0" bIns="0" anchor="t">
            <a:spAutoFit/>
          </a:bodyPr>
          <a:lstStyle/>
          <a:p>
            <a:pPr algn="l">
              <a:spcAft>
                <a:spcPts val="400"/>
              </a:spcAft>
            </a:pPr>
            <a:r>
              <a:rPr sz="1900" b="0" i="0">
                <a:solidFill>
                  <a:srgbClr val="1A1A1A"/>
                </a:solidFill>
                <a:latin typeface="Tw Cen MT"/>
              </a:rPr>
              <a:t>Manhattan</a:t>
            </a:r>
          </a:p>
        </p:txBody>
      </p:sp>
      <p:sp>
        <p:nvSpPr>
          <p:cNvPr id="24" name="TextBox 23"/>
          <p:cNvSpPr txBox="1"/>
          <p:nvPr/>
        </p:nvSpPr>
        <p:spPr>
          <a:xfrm>
            <a:off x="9966960" y="4663440"/>
            <a:ext cx="1188720" cy="548640"/>
          </a:xfrm>
          <a:prstGeom prst="rect">
            <a:avLst/>
          </a:prstGeom>
          <a:noFill/>
        </p:spPr>
        <p:txBody>
          <a:bodyPr wrap="square" lIns="0" tIns="0" rIns="0" bIns="0" anchor="t">
            <a:spAutoFit/>
          </a:bodyPr>
          <a:lstStyle/>
          <a:p>
            <a:pPr algn="r">
              <a:spcAft>
                <a:spcPts val="400"/>
              </a:spcAft>
            </a:pPr>
            <a:r>
              <a:rPr sz="2800" b="1" i="0">
                <a:solidFill>
                  <a:srgbClr val="0E3A73"/>
                </a:solidFill>
                <a:latin typeface="Tw Cen MT Condensed"/>
              </a:rPr>
              <a:t>21.1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Where the listings are</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Ten neighbourhoods hold 48 % of the listings; prices peak in Lower and Midtown Manhattan.</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2</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9</a:t>
            </a:fld>
            <a:endParaRPr sz="1200" b="0" i="0">
              <a:solidFill>
                <a:srgbClr val="595959"/>
              </a:solidFill>
              <a:latin typeface="Tw Cen MT"/>
            </a:endParaRPr>
          </a:p>
        </p:txBody>
      </p:sp>
      <p:pic>
        <p:nvPicPr>
          <p:cNvPr id="8" name="Picture 7" descr="fig04_map.png"/>
          <p:cNvPicPr>
            <a:picLocks noChangeAspect="1"/>
          </p:cNvPicPr>
          <p:nvPr/>
        </p:nvPicPr>
        <p:blipFill>
          <a:blip r:embed="rId2"/>
          <a:stretch>
            <a:fillRect/>
          </a:stretch>
        </p:blipFill>
        <p:spPr>
          <a:xfrm>
            <a:off x="1024128" y="1449998"/>
            <a:ext cx="10149840" cy="42323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3: prices by area</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Prices fall with the distance from Manhattan; an entire home costs about twice a room.</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3</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10</a:t>
            </a:fld>
            <a:endParaRPr sz="1200" b="0" i="0">
              <a:solidFill>
                <a:srgbClr val="595959"/>
              </a:solidFill>
              <a:latin typeface="Tw Cen MT"/>
            </a:endParaRPr>
          </a:p>
        </p:txBody>
      </p:sp>
      <p:graphicFrame>
        <p:nvGraphicFramePr>
          <p:cNvPr id="8" name="Chart 7"/>
          <p:cNvGraphicFramePr>
            <a:graphicFrameLocks noGrp="1"/>
          </p:cNvGraphicFramePr>
          <p:nvPr/>
        </p:nvGraphicFramePr>
        <p:xfrm>
          <a:off x="1024128" y="1417320"/>
          <a:ext cx="6949440" cy="43434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8321040" y="1600200"/>
            <a:ext cx="2834640" cy="731520"/>
          </a:xfrm>
          <a:prstGeom prst="rect">
            <a:avLst/>
          </a:prstGeom>
          <a:noFill/>
        </p:spPr>
        <p:txBody>
          <a:bodyPr wrap="square" lIns="0" tIns="0" rIns="0" bIns="0" anchor="t">
            <a:spAutoFit/>
          </a:bodyPr>
          <a:lstStyle/>
          <a:p>
            <a:pPr algn="l">
              <a:spcAft>
                <a:spcPts val="400"/>
              </a:spcAft>
            </a:pPr>
            <a:r>
              <a:rPr sz="4000" b="1" i="0">
                <a:solidFill>
                  <a:srgbClr val="0E3A73"/>
                </a:solidFill>
                <a:latin typeface="Tw Cen MT Condensed"/>
              </a:rPr>
              <a:t>$149 / $65</a:t>
            </a:r>
          </a:p>
        </p:txBody>
      </p:sp>
      <p:sp>
        <p:nvSpPr>
          <p:cNvPr id="10" name="TextBox 9"/>
          <p:cNvSpPr txBox="1"/>
          <p:nvPr/>
        </p:nvSpPr>
        <p:spPr>
          <a:xfrm>
            <a:off x="8321040" y="2350008"/>
            <a:ext cx="283464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median, Manhattan / Bronx</a:t>
            </a:r>
          </a:p>
        </p:txBody>
      </p:sp>
      <p:sp>
        <p:nvSpPr>
          <p:cNvPr id="11" name="TextBox 10"/>
          <p:cNvSpPr txBox="1"/>
          <p:nvPr/>
        </p:nvSpPr>
        <p:spPr>
          <a:xfrm>
            <a:off x="8321040" y="3017520"/>
            <a:ext cx="2834640" cy="731520"/>
          </a:xfrm>
          <a:prstGeom prst="rect">
            <a:avLst/>
          </a:prstGeom>
          <a:noFill/>
        </p:spPr>
        <p:txBody>
          <a:bodyPr wrap="square" lIns="0" tIns="0" rIns="0" bIns="0" anchor="t">
            <a:spAutoFit/>
          </a:bodyPr>
          <a:lstStyle/>
          <a:p>
            <a:pPr algn="l">
              <a:spcAft>
                <a:spcPts val="400"/>
              </a:spcAft>
            </a:pPr>
            <a:r>
              <a:rPr sz="4000" b="1" i="0">
                <a:solidFill>
                  <a:srgbClr val="E8474D"/>
                </a:solidFill>
                <a:latin typeface="Tw Cen MT Condensed"/>
              </a:rPr>
              <a:t>$305</a:t>
            </a:r>
          </a:p>
        </p:txBody>
      </p:sp>
      <p:sp>
        <p:nvSpPr>
          <p:cNvPr id="12" name="TextBox 11"/>
          <p:cNvSpPr txBox="1"/>
          <p:nvPr/>
        </p:nvSpPr>
        <p:spPr>
          <a:xfrm>
            <a:off x="8321040" y="3767328"/>
            <a:ext cx="283464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Tribeca, entire home (30+ listings)</a:t>
            </a:r>
          </a:p>
        </p:txBody>
      </p:sp>
      <p:sp>
        <p:nvSpPr>
          <p:cNvPr id="13" name="TextBox 12"/>
          <p:cNvSpPr txBox="1"/>
          <p:nvPr/>
        </p:nvSpPr>
        <p:spPr>
          <a:xfrm>
            <a:off x="8321040" y="4434840"/>
            <a:ext cx="2834640" cy="731520"/>
          </a:xfrm>
          <a:prstGeom prst="rect">
            <a:avLst/>
          </a:prstGeom>
          <a:noFill/>
        </p:spPr>
        <p:txBody>
          <a:bodyPr wrap="square" lIns="0" tIns="0" rIns="0" bIns="0" anchor="t">
            <a:spAutoFit/>
          </a:bodyPr>
          <a:lstStyle/>
          <a:p>
            <a:pPr algn="l">
              <a:spcAft>
                <a:spcPts val="400"/>
              </a:spcAft>
            </a:pPr>
            <a:r>
              <a:rPr sz="4000" b="1" i="0">
                <a:solidFill>
                  <a:srgbClr val="00A699"/>
                </a:solidFill>
                <a:latin typeface="Tw Cen MT Condensed"/>
              </a:rPr>
              <a:t>$88</a:t>
            </a:r>
          </a:p>
        </p:txBody>
      </p:sp>
      <p:sp>
        <p:nvSpPr>
          <p:cNvPr id="14" name="TextBox 13"/>
          <p:cNvSpPr txBox="1"/>
          <p:nvPr/>
        </p:nvSpPr>
        <p:spPr>
          <a:xfrm>
            <a:off x="8321040" y="5184648"/>
            <a:ext cx="283464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Midwood, entire home: 3.5 times less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4: price, ratings and reviews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No rating in the file: reviews measure demand, and demand goes to affordable listings.</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4</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11</a:t>
            </a:fld>
            <a:endParaRPr sz="1200" b="0" i="0">
              <a:solidFill>
                <a:srgbClr val="595959"/>
              </a:solidFill>
              <a:latin typeface="Tw Cen MT"/>
            </a:endParaRPr>
          </a:p>
        </p:txBody>
      </p:sp>
      <p:sp>
        <p:nvSpPr>
          <p:cNvPr id="8" name="TextBox 7"/>
          <p:cNvSpPr txBox="1"/>
          <p:nvPr/>
        </p:nvSpPr>
        <p:spPr>
          <a:xfrm>
            <a:off x="1024128" y="1463040"/>
            <a:ext cx="6583680" cy="365760"/>
          </a:xfrm>
          <a:prstGeom prst="rect">
            <a:avLst/>
          </a:prstGeom>
          <a:noFill/>
        </p:spPr>
        <p:txBody>
          <a:bodyPr wrap="square" lIns="0" tIns="0" rIns="0" bIns="0" anchor="t">
            <a:spAutoFit/>
          </a:bodyPr>
          <a:lstStyle/>
          <a:p>
            <a:pPr algn="l">
              <a:spcAft>
                <a:spcPts val="400"/>
              </a:spcAft>
            </a:pPr>
            <a:r>
              <a:rPr sz="1700" b="0" i="0">
                <a:solidFill>
                  <a:srgbClr val="595959"/>
                </a:solidFill>
                <a:latin typeface="Tw Cen MT"/>
              </a:rPr>
              <a:t>Listings never reviewed, by price band per night</a:t>
            </a:r>
          </a:p>
        </p:txBody>
      </p:sp>
      <p:graphicFrame>
        <p:nvGraphicFramePr>
          <p:cNvPr id="9" name="Chart 8"/>
          <p:cNvGraphicFramePr>
            <a:graphicFrameLocks noGrp="1"/>
          </p:cNvGraphicFramePr>
          <p:nvPr/>
        </p:nvGraphicFramePr>
        <p:xfrm>
          <a:off x="1024128" y="1828800"/>
          <a:ext cx="6583680" cy="384048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8138160" y="1600200"/>
            <a:ext cx="3017520" cy="731520"/>
          </a:xfrm>
          <a:prstGeom prst="rect">
            <a:avLst/>
          </a:prstGeom>
          <a:noFill/>
        </p:spPr>
        <p:txBody>
          <a:bodyPr wrap="square" lIns="0" tIns="0" rIns="0" bIns="0" anchor="t">
            <a:spAutoFit/>
          </a:bodyPr>
          <a:lstStyle/>
          <a:p>
            <a:pPr algn="l">
              <a:spcAft>
                <a:spcPts val="400"/>
              </a:spcAft>
            </a:pPr>
            <a:r>
              <a:rPr sz="4000" b="1" i="0">
                <a:solidFill>
                  <a:srgbClr val="0E3A73"/>
                </a:solidFill>
                <a:latin typeface="Tw Cen MT Condensed"/>
              </a:rPr>
              <a:t>ρ = -0.05</a:t>
            </a:r>
          </a:p>
        </p:txBody>
      </p:sp>
      <p:sp>
        <p:nvSpPr>
          <p:cNvPr id="11" name="TextBox 10"/>
          <p:cNvSpPr txBox="1"/>
          <p:nvPr/>
        </p:nvSpPr>
        <p:spPr>
          <a:xfrm>
            <a:off x="8138160" y="2350008"/>
            <a:ext cx="301752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price and number of reviews: almost no link</a:t>
            </a:r>
          </a:p>
        </p:txBody>
      </p:sp>
      <p:sp>
        <p:nvSpPr>
          <p:cNvPr id="12" name="TextBox 11"/>
          <p:cNvSpPr txBox="1"/>
          <p:nvPr/>
        </p:nvSpPr>
        <p:spPr>
          <a:xfrm>
            <a:off x="8138160" y="3017520"/>
            <a:ext cx="3017520" cy="731520"/>
          </a:xfrm>
          <a:prstGeom prst="rect">
            <a:avLst/>
          </a:prstGeom>
          <a:noFill/>
        </p:spPr>
        <p:txBody>
          <a:bodyPr wrap="square" lIns="0" tIns="0" rIns="0" bIns="0" anchor="t">
            <a:spAutoFit/>
          </a:bodyPr>
          <a:lstStyle/>
          <a:p>
            <a:pPr algn="l">
              <a:spcAft>
                <a:spcPts val="400"/>
              </a:spcAft>
            </a:pPr>
            <a:r>
              <a:rPr sz="4000" b="1" i="0">
                <a:solidFill>
                  <a:srgbClr val="2A78D6"/>
                </a:solidFill>
                <a:latin typeface="Tw Cen MT Condensed"/>
              </a:rPr>
              <a:t>0.46</a:t>
            </a:r>
          </a:p>
        </p:txBody>
      </p:sp>
      <p:sp>
        <p:nvSpPr>
          <p:cNvPr id="13" name="TextBox 12"/>
          <p:cNvSpPr txBox="1"/>
          <p:nvPr/>
        </p:nvSpPr>
        <p:spPr>
          <a:xfrm>
            <a:off x="8138160" y="3767328"/>
            <a:ext cx="301752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median reviews a month at $50-99, the highest</a:t>
            </a:r>
          </a:p>
        </p:txBody>
      </p:sp>
      <p:sp>
        <p:nvSpPr>
          <p:cNvPr id="14" name="TextBox 13"/>
          <p:cNvSpPr txBox="1"/>
          <p:nvPr/>
        </p:nvSpPr>
        <p:spPr>
          <a:xfrm>
            <a:off x="8138160" y="4434840"/>
            <a:ext cx="3017520" cy="731520"/>
          </a:xfrm>
          <a:prstGeom prst="rect">
            <a:avLst/>
          </a:prstGeom>
          <a:noFill/>
        </p:spPr>
        <p:txBody>
          <a:bodyPr wrap="square" lIns="0" tIns="0" rIns="0" bIns="0" anchor="t">
            <a:spAutoFit/>
          </a:bodyPr>
          <a:lstStyle/>
          <a:p>
            <a:pPr algn="l">
              <a:spcAft>
                <a:spcPts val="400"/>
              </a:spcAft>
            </a:pPr>
            <a:r>
              <a:rPr sz="4000" b="1" i="0">
                <a:solidFill>
                  <a:srgbClr val="D03B3B"/>
                </a:solidFill>
                <a:latin typeface="Tw Cen MT Condensed"/>
              </a:rPr>
              <a:t>37 %</a:t>
            </a:r>
          </a:p>
        </p:txBody>
      </p:sp>
      <p:sp>
        <p:nvSpPr>
          <p:cNvPr id="15" name="TextBox 14"/>
          <p:cNvSpPr txBox="1"/>
          <p:nvPr/>
        </p:nvSpPr>
        <p:spPr>
          <a:xfrm>
            <a:off x="8138160" y="5184648"/>
            <a:ext cx="3017520" cy="685800"/>
          </a:xfrm>
          <a:prstGeom prst="rect">
            <a:avLst/>
          </a:prstGeom>
          <a:noFill/>
        </p:spPr>
        <p:txBody>
          <a:bodyPr wrap="square" lIns="0" tIns="0" rIns="0" bIns="0" anchor="t">
            <a:spAutoFit/>
          </a:bodyPr>
          <a:lstStyle/>
          <a:p>
            <a:pPr algn="l">
              <a:spcAft>
                <a:spcPts val="400"/>
              </a:spcAft>
            </a:pPr>
            <a:r>
              <a:rPr sz="1800" b="0" i="0">
                <a:solidFill>
                  <a:srgbClr val="1A1A1A"/>
                </a:solidFill>
                <a:latin typeface="Tw Cen MT"/>
              </a:rPr>
              <a:t>of listings above $500 never reviewed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5: what moves the price</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Room type and location set the price; the host's size does not.</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5</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12</a:t>
            </a:fld>
            <a:endParaRPr sz="1200" b="0" i="0">
              <a:solidFill>
                <a:srgbClr val="595959"/>
              </a:solidFill>
              <a:latin typeface="Tw Cen MT"/>
            </a:endParaRPr>
          </a:p>
        </p:txBody>
      </p:sp>
      <p:sp>
        <p:nvSpPr>
          <p:cNvPr id="8" name="TextBox 7"/>
          <p:cNvSpPr txBox="1"/>
          <p:nvPr/>
        </p:nvSpPr>
        <p:spPr>
          <a:xfrm>
            <a:off x="1024128" y="1417320"/>
            <a:ext cx="6949440" cy="365760"/>
          </a:xfrm>
          <a:prstGeom prst="rect">
            <a:avLst/>
          </a:prstGeom>
          <a:noFill/>
        </p:spPr>
        <p:txBody>
          <a:bodyPr wrap="square" lIns="0" tIns="0" rIns="0" bIns="0" anchor="t">
            <a:spAutoFit/>
          </a:bodyPr>
          <a:lstStyle/>
          <a:p>
            <a:pPr algn="l">
              <a:spcAft>
                <a:spcPts val="400"/>
              </a:spcAft>
            </a:pPr>
            <a:r>
              <a:rPr sz="1700" b="0" i="0">
                <a:solidFill>
                  <a:srgbClr val="595959"/>
                </a:solidFill>
                <a:latin typeface="Tw Cen MT"/>
              </a:rPr>
              <a:t>Difference in price, other factors held constant (%)</a:t>
            </a:r>
          </a:p>
        </p:txBody>
      </p:sp>
      <p:graphicFrame>
        <p:nvGraphicFramePr>
          <p:cNvPr id="9" name="Chart 8"/>
          <p:cNvGraphicFramePr>
            <a:graphicFrameLocks noGrp="1"/>
          </p:cNvGraphicFramePr>
          <p:nvPr/>
        </p:nvGraphicFramePr>
        <p:xfrm>
          <a:off x="1024128" y="1783080"/>
          <a:ext cx="6949440" cy="3977639"/>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8321040" y="1600200"/>
            <a:ext cx="2834640" cy="731520"/>
          </a:xfrm>
          <a:prstGeom prst="rect">
            <a:avLst/>
          </a:prstGeom>
          <a:noFill/>
        </p:spPr>
        <p:txBody>
          <a:bodyPr wrap="square" lIns="0" tIns="0" rIns="0" bIns="0" anchor="t">
            <a:spAutoFit/>
          </a:bodyPr>
          <a:lstStyle/>
          <a:p>
            <a:pPr algn="l">
              <a:spcAft>
                <a:spcPts val="400"/>
              </a:spcAft>
            </a:pPr>
            <a:r>
              <a:rPr sz="4400" b="1" i="0">
                <a:solidFill>
                  <a:srgbClr val="0E3A73"/>
                </a:solidFill>
                <a:latin typeface="Tw Cen MT Condensed"/>
              </a:rPr>
              <a:t>52 %</a:t>
            </a:r>
          </a:p>
        </p:txBody>
      </p:sp>
      <p:sp>
        <p:nvSpPr>
          <p:cNvPr id="11" name="TextBox 10"/>
          <p:cNvSpPr txBox="1"/>
          <p:nvPr/>
        </p:nvSpPr>
        <p:spPr>
          <a:xfrm>
            <a:off x="8321040" y="2350008"/>
            <a:ext cx="2834640" cy="68580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of the price variation explained (59 % with the 221 neighbourhoods)</a:t>
            </a:r>
          </a:p>
        </p:txBody>
      </p:sp>
      <p:sp>
        <p:nvSpPr>
          <p:cNvPr id="12" name="TextBox 11"/>
          <p:cNvSpPr txBox="1"/>
          <p:nvPr/>
        </p:nvSpPr>
        <p:spPr>
          <a:xfrm>
            <a:off x="8321040" y="3246120"/>
            <a:ext cx="2834640" cy="731520"/>
          </a:xfrm>
          <a:prstGeom prst="rect">
            <a:avLst/>
          </a:prstGeom>
          <a:noFill/>
        </p:spPr>
        <p:txBody>
          <a:bodyPr wrap="square" lIns="0" tIns="0" rIns="0" bIns="0" anchor="t">
            <a:spAutoFit/>
          </a:bodyPr>
          <a:lstStyle/>
          <a:p>
            <a:pPr algn="l">
              <a:spcAft>
                <a:spcPts val="400"/>
              </a:spcAft>
            </a:pPr>
            <a:r>
              <a:rPr sz="4400" b="1" i="0">
                <a:solidFill>
                  <a:srgbClr val="E8474D"/>
                </a:solidFill>
                <a:latin typeface="Tw Cen MT Condensed"/>
              </a:rPr>
              <a:t>41 %</a:t>
            </a:r>
          </a:p>
        </p:txBody>
      </p:sp>
      <p:sp>
        <p:nvSpPr>
          <p:cNvPr id="13" name="TextBox 12"/>
          <p:cNvSpPr txBox="1"/>
          <p:nvPr/>
        </p:nvSpPr>
        <p:spPr>
          <a:xfrm>
            <a:off x="8321040" y="3995928"/>
            <a:ext cx="2834640" cy="68580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explained by the room type alone</a:t>
            </a:r>
          </a:p>
        </p:txBody>
      </p:sp>
      <p:sp>
        <p:nvSpPr>
          <p:cNvPr id="14" name="TextBox 13"/>
          <p:cNvSpPr txBox="1"/>
          <p:nvPr/>
        </p:nvSpPr>
        <p:spPr>
          <a:xfrm>
            <a:off x="8321040" y="4663440"/>
            <a:ext cx="2834640" cy="1005840"/>
          </a:xfrm>
          <a:prstGeom prst="rect">
            <a:avLst/>
          </a:prstGeom>
          <a:noFill/>
        </p:spPr>
        <p:txBody>
          <a:bodyPr wrap="square" lIns="0" tIns="0" rIns="0" bIns="0" anchor="t">
            <a:spAutoFit/>
          </a:bodyPr>
          <a:lstStyle/>
          <a:p>
            <a:pPr algn="l">
              <a:spcAft>
                <a:spcPts val="400"/>
              </a:spcAft>
            </a:pPr>
            <a:r>
              <a:rPr sz="1600" b="0" i="0" dirty="0">
                <a:solidFill>
                  <a:srgbClr val="595959"/>
                </a:solidFill>
                <a:latin typeface="Tw Cen MT"/>
              </a:rPr>
              <a:t>The rest needs data the file does not have: size, quality, amenities.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6: where demand is strongest</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Cheap rooms near the airports are the busiest listings of the city.</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6</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13</a:t>
            </a:fld>
            <a:endParaRPr sz="1200" b="0" i="0">
              <a:solidFill>
                <a:srgbClr val="595959"/>
              </a:solidFill>
              <a:latin typeface="Tw Cen MT"/>
            </a:endParaRPr>
          </a:p>
        </p:txBody>
      </p:sp>
      <p:pic>
        <p:nvPicPr>
          <p:cNvPr id="8" name="Picture 7" descr="fig10_performance.png"/>
          <p:cNvPicPr>
            <a:picLocks noChangeAspect="1"/>
          </p:cNvPicPr>
          <p:nvPr/>
        </p:nvPicPr>
        <p:blipFill>
          <a:blip r:embed="rId2"/>
          <a:stretch>
            <a:fillRect/>
          </a:stretch>
        </p:blipFill>
        <p:spPr>
          <a:xfrm>
            <a:off x="932688" y="1559778"/>
            <a:ext cx="7223760" cy="4012763"/>
          </a:xfrm>
          <a:prstGeom prst="rect">
            <a:avLst/>
          </a:prstGeom>
        </p:spPr>
      </p:pic>
      <p:sp>
        <p:nvSpPr>
          <p:cNvPr id="9" name="TextBox 8"/>
          <p:cNvSpPr txBox="1"/>
          <p:nvPr/>
        </p:nvSpPr>
        <p:spPr>
          <a:xfrm>
            <a:off x="8321040" y="1463040"/>
            <a:ext cx="2834640" cy="731520"/>
          </a:xfrm>
          <a:prstGeom prst="rect">
            <a:avLst/>
          </a:prstGeom>
          <a:noFill/>
        </p:spPr>
        <p:txBody>
          <a:bodyPr wrap="square" lIns="0" tIns="0" rIns="0" bIns="0" anchor="t">
            <a:spAutoFit/>
          </a:bodyPr>
          <a:lstStyle/>
          <a:p>
            <a:pPr algn="l">
              <a:spcAft>
                <a:spcPts val="400"/>
              </a:spcAft>
            </a:pPr>
            <a:r>
              <a:rPr sz="4000" b="1" i="0">
                <a:solidFill>
                  <a:srgbClr val="8E6BD9"/>
                </a:solidFill>
                <a:latin typeface="Tw Cen MT Condensed"/>
              </a:rPr>
              <a:t>3.76</a:t>
            </a:r>
          </a:p>
        </p:txBody>
      </p:sp>
      <p:sp>
        <p:nvSpPr>
          <p:cNvPr id="10" name="TextBox 9"/>
          <p:cNvSpPr txBox="1"/>
          <p:nvPr/>
        </p:nvSpPr>
        <p:spPr>
          <a:xfrm>
            <a:off x="8321040" y="2212848"/>
            <a:ext cx="2834640" cy="68580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reviews a month in East Elmhurst, next to LaGuardia</a:t>
            </a:r>
          </a:p>
        </p:txBody>
      </p:sp>
      <p:sp>
        <p:nvSpPr>
          <p:cNvPr id="11" name="TextBox 10"/>
          <p:cNvSpPr txBox="1"/>
          <p:nvPr/>
        </p:nvSpPr>
        <p:spPr>
          <a:xfrm>
            <a:off x="8321040" y="2880360"/>
            <a:ext cx="2834640" cy="731520"/>
          </a:xfrm>
          <a:prstGeom prst="rect">
            <a:avLst/>
          </a:prstGeom>
          <a:noFill/>
        </p:spPr>
        <p:txBody>
          <a:bodyPr wrap="square" lIns="0" tIns="0" rIns="0" bIns="0" anchor="t">
            <a:spAutoFit/>
          </a:bodyPr>
          <a:lstStyle/>
          <a:p>
            <a:pPr algn="l">
              <a:spcAft>
                <a:spcPts val="400"/>
              </a:spcAft>
            </a:pPr>
            <a:r>
              <a:rPr sz="4000" b="1" i="0">
                <a:solidFill>
                  <a:srgbClr val="8E6BD9"/>
                </a:solidFill>
                <a:latin typeface="Tw Cen MT Condensed"/>
              </a:rPr>
              <a:t>2.53</a:t>
            </a:r>
          </a:p>
        </p:txBody>
      </p:sp>
      <p:sp>
        <p:nvSpPr>
          <p:cNvPr id="12" name="TextBox 11"/>
          <p:cNvSpPr txBox="1"/>
          <p:nvPr/>
        </p:nvSpPr>
        <p:spPr>
          <a:xfrm>
            <a:off x="8321040" y="3630168"/>
            <a:ext cx="2834640" cy="68580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in Springfield Gardens, next to JFK, at $60-80</a:t>
            </a:r>
          </a:p>
        </p:txBody>
      </p:sp>
      <p:sp>
        <p:nvSpPr>
          <p:cNvPr id="13" name="TextBox 12"/>
          <p:cNvSpPr txBox="1"/>
          <p:nvPr/>
        </p:nvSpPr>
        <p:spPr>
          <a:xfrm>
            <a:off x="8321040" y="4297680"/>
            <a:ext cx="2834640" cy="731520"/>
          </a:xfrm>
          <a:prstGeom prst="rect">
            <a:avLst/>
          </a:prstGeom>
          <a:noFill/>
        </p:spPr>
        <p:txBody>
          <a:bodyPr wrap="square" lIns="0" tIns="0" rIns="0" bIns="0" anchor="t">
            <a:spAutoFit/>
          </a:bodyPr>
          <a:lstStyle/>
          <a:p>
            <a:pPr algn="l">
              <a:spcAft>
                <a:spcPts val="400"/>
              </a:spcAft>
            </a:pPr>
            <a:r>
              <a:rPr sz="4000" b="1" i="0">
                <a:solidFill>
                  <a:srgbClr val="0E3A73"/>
                </a:solidFill>
                <a:latin typeface="Tw Cen MT Condensed"/>
              </a:rPr>
              <a:t>63 / 100</a:t>
            </a:r>
          </a:p>
        </p:txBody>
      </p:sp>
      <p:sp>
        <p:nvSpPr>
          <p:cNvPr id="14" name="TextBox 13"/>
          <p:cNvSpPr txBox="1"/>
          <p:nvPr/>
        </p:nvSpPr>
        <p:spPr>
          <a:xfrm>
            <a:off x="8321040" y="5047488"/>
            <a:ext cx="2834640" cy="68580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busiest listings in Queens; 64 are private rooms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Question 7: patterns in hosts and activity</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40 % of the listings look inactive; 0.9 % of the hosts run 10 % of the offer.</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QUESTION 7</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14</a:t>
            </a:fld>
            <a:endParaRPr sz="1200" b="0" i="0">
              <a:solidFill>
                <a:srgbClr val="595959"/>
              </a:solidFill>
              <a:latin typeface="Tw Cen MT"/>
            </a:endParaRPr>
          </a:p>
        </p:txBody>
      </p:sp>
      <p:graphicFrame>
        <p:nvGraphicFramePr>
          <p:cNvPr id="8" name="Chart 7"/>
          <p:cNvGraphicFramePr>
            <a:graphicFrameLocks noGrp="1"/>
          </p:cNvGraphicFramePr>
          <p:nvPr/>
        </p:nvGraphicFramePr>
        <p:xfrm>
          <a:off x="1024128" y="1463040"/>
          <a:ext cx="5760720" cy="4251960"/>
        </p:xfrm>
        <a:graphic>
          <a:graphicData uri="http://schemas.openxmlformats.org/drawingml/2006/chart">
            <c:chart xmlns:c="http://schemas.openxmlformats.org/drawingml/2006/chart" xmlns:r="http://schemas.openxmlformats.org/officeDocument/2006/relationships" r:id="rId2"/>
          </a:graphicData>
        </a:graphic>
      </p:graphicFrame>
      <p:sp>
        <p:nvSpPr>
          <p:cNvPr id="9" name="Rounded Rectangle 8"/>
          <p:cNvSpPr/>
          <p:nvPr/>
        </p:nvSpPr>
        <p:spPr>
          <a:xfrm>
            <a:off x="7132320" y="1554480"/>
            <a:ext cx="1883664" cy="1874519"/>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200" y="1737360"/>
            <a:ext cx="1563624" cy="731520"/>
          </a:xfrm>
          <a:prstGeom prst="rect">
            <a:avLst/>
          </a:prstGeom>
          <a:noFill/>
        </p:spPr>
        <p:txBody>
          <a:bodyPr wrap="square" lIns="0" tIns="0" rIns="0" bIns="0" anchor="t">
            <a:spAutoFit/>
          </a:bodyPr>
          <a:lstStyle/>
          <a:p>
            <a:pPr algn="l">
              <a:spcAft>
                <a:spcPts val="400"/>
              </a:spcAft>
            </a:pPr>
            <a:r>
              <a:rPr sz="4000" b="1" i="0">
                <a:solidFill>
                  <a:srgbClr val="63A537"/>
                </a:solidFill>
                <a:latin typeface="Tw Cen MT Condensed"/>
              </a:rPr>
              <a:t>59.8 %</a:t>
            </a:r>
          </a:p>
        </p:txBody>
      </p:sp>
      <p:sp>
        <p:nvSpPr>
          <p:cNvPr id="11" name="TextBox 10"/>
          <p:cNvSpPr txBox="1"/>
          <p:nvPr/>
        </p:nvSpPr>
        <p:spPr>
          <a:xfrm>
            <a:off x="7315200" y="2514600"/>
            <a:ext cx="1563624" cy="86868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reviewed in the last 12 months</a:t>
            </a:r>
          </a:p>
        </p:txBody>
      </p:sp>
      <p:sp>
        <p:nvSpPr>
          <p:cNvPr id="12" name="Rounded Rectangle 11"/>
          <p:cNvSpPr/>
          <p:nvPr/>
        </p:nvSpPr>
        <p:spPr>
          <a:xfrm>
            <a:off x="9290304" y="1554480"/>
            <a:ext cx="1883664" cy="1874519"/>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473184" y="1737360"/>
            <a:ext cx="1563624" cy="731520"/>
          </a:xfrm>
          <a:prstGeom prst="rect">
            <a:avLst/>
          </a:prstGeom>
          <a:noFill/>
        </p:spPr>
        <p:txBody>
          <a:bodyPr wrap="square" lIns="0" tIns="0" rIns="0" bIns="0" anchor="t">
            <a:spAutoFit/>
          </a:bodyPr>
          <a:lstStyle/>
          <a:p>
            <a:pPr algn="l">
              <a:spcAft>
                <a:spcPts val="400"/>
              </a:spcAft>
            </a:pPr>
            <a:r>
              <a:rPr sz="4000" b="1" i="0">
                <a:solidFill>
                  <a:srgbClr val="D03B3B"/>
                </a:solidFill>
                <a:latin typeface="Tw Cen MT Condensed"/>
              </a:rPr>
              <a:t>35.9 %</a:t>
            </a:r>
          </a:p>
        </p:txBody>
      </p:sp>
      <p:sp>
        <p:nvSpPr>
          <p:cNvPr id="14" name="TextBox 13"/>
          <p:cNvSpPr txBox="1"/>
          <p:nvPr/>
        </p:nvSpPr>
        <p:spPr>
          <a:xfrm>
            <a:off x="9473184" y="2514600"/>
            <a:ext cx="1563624" cy="86868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closed calendar (0 days available)</a:t>
            </a:r>
          </a:p>
        </p:txBody>
      </p:sp>
      <p:sp>
        <p:nvSpPr>
          <p:cNvPr id="15" name="Rounded Rectangle 14"/>
          <p:cNvSpPr/>
          <p:nvPr/>
        </p:nvSpPr>
        <p:spPr>
          <a:xfrm>
            <a:off x="7132320" y="3657600"/>
            <a:ext cx="1883664" cy="1874519"/>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5200" y="3840480"/>
            <a:ext cx="1563624" cy="731520"/>
          </a:xfrm>
          <a:prstGeom prst="rect">
            <a:avLst/>
          </a:prstGeom>
          <a:noFill/>
        </p:spPr>
        <p:txBody>
          <a:bodyPr wrap="square" lIns="0" tIns="0" rIns="0" bIns="0" anchor="t">
            <a:spAutoFit/>
          </a:bodyPr>
          <a:lstStyle/>
          <a:p>
            <a:pPr algn="l">
              <a:spcAft>
                <a:spcPts val="400"/>
              </a:spcAft>
            </a:pPr>
            <a:r>
              <a:rPr sz="4000" b="1" i="0">
                <a:solidFill>
                  <a:srgbClr val="0E3A73"/>
                </a:solidFill>
                <a:latin typeface="Tw Cen MT Condensed"/>
              </a:rPr>
              <a:t>343</a:t>
            </a:r>
          </a:p>
        </p:txBody>
      </p:sp>
      <p:sp>
        <p:nvSpPr>
          <p:cNvPr id="17" name="TextBox 16"/>
          <p:cNvSpPr txBox="1"/>
          <p:nvPr/>
        </p:nvSpPr>
        <p:spPr>
          <a:xfrm>
            <a:off x="7315200" y="4617720"/>
            <a:ext cx="1563624" cy="86868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hosts with 6+ listings run 4,755 listings</a:t>
            </a:r>
          </a:p>
        </p:txBody>
      </p:sp>
      <p:sp>
        <p:nvSpPr>
          <p:cNvPr id="18" name="Rounded Rectangle 17"/>
          <p:cNvSpPr/>
          <p:nvPr/>
        </p:nvSpPr>
        <p:spPr>
          <a:xfrm>
            <a:off x="9290304" y="3657600"/>
            <a:ext cx="1883664" cy="1874519"/>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473184" y="3840480"/>
            <a:ext cx="1563624" cy="731520"/>
          </a:xfrm>
          <a:prstGeom prst="rect">
            <a:avLst/>
          </a:prstGeom>
          <a:noFill/>
        </p:spPr>
        <p:txBody>
          <a:bodyPr wrap="square" lIns="0" tIns="0" rIns="0" bIns="0" anchor="t">
            <a:spAutoFit/>
          </a:bodyPr>
          <a:lstStyle/>
          <a:p>
            <a:pPr algn="l">
              <a:spcAft>
                <a:spcPts val="400"/>
              </a:spcAft>
            </a:pPr>
            <a:r>
              <a:rPr sz="4000" b="1" i="0">
                <a:solidFill>
                  <a:srgbClr val="0E3A73"/>
                </a:solidFill>
                <a:latin typeface="Tw Cen MT Condensed"/>
              </a:rPr>
              <a:t>310</a:t>
            </a:r>
          </a:p>
        </p:txBody>
      </p:sp>
      <p:sp>
        <p:nvSpPr>
          <p:cNvPr id="20" name="TextBox 19"/>
          <p:cNvSpPr txBox="1"/>
          <p:nvPr/>
        </p:nvSpPr>
        <p:spPr>
          <a:xfrm>
            <a:off x="9473184" y="4617720"/>
            <a:ext cx="1563624" cy="868680"/>
          </a:xfrm>
          <a:prstGeom prst="rect">
            <a:avLst/>
          </a:prstGeom>
          <a:noFill/>
        </p:spPr>
        <p:txBody>
          <a:bodyPr wrap="square" lIns="0" tIns="0" rIns="0" bIns="0" anchor="t">
            <a:spAutoFit/>
          </a:bodyPr>
          <a:lstStyle/>
          <a:p>
            <a:pPr algn="l">
              <a:spcAft>
                <a:spcPts val="400"/>
              </a:spcAft>
            </a:pPr>
            <a:r>
              <a:rPr sz="1600" b="0" i="0">
                <a:solidFill>
                  <a:srgbClr val="1A1A1A"/>
                </a:solidFill>
                <a:latin typeface="Tw Cen MT"/>
              </a:rPr>
              <a:t>days open a year (median) for those hosts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The Power BI dashboard</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Every number of the dashboard is the number of the notebook (same cleaned tables).</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DASHBOARD</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15</a:t>
            </a:fld>
            <a:endParaRPr sz="1200" b="0" i="0">
              <a:solidFill>
                <a:srgbClr val="595959"/>
              </a:solidFill>
              <a:latin typeface="Tw Cen MT"/>
            </a:endParaRPr>
          </a:p>
        </p:txBody>
      </p:sp>
      <p:pic>
        <p:nvPicPr>
          <p:cNvPr id="8" name="Picture 7" descr="p1_home.png"/>
          <p:cNvPicPr>
            <a:picLocks noChangeAspect="1"/>
          </p:cNvPicPr>
          <p:nvPr/>
        </p:nvPicPr>
        <p:blipFill>
          <a:blip r:embed="rId2"/>
          <a:stretch>
            <a:fillRect/>
          </a:stretch>
        </p:blipFill>
        <p:spPr>
          <a:xfrm>
            <a:off x="1024128" y="1463040"/>
            <a:ext cx="7223760" cy="4063364"/>
          </a:xfrm>
          <a:prstGeom prst="rect">
            <a:avLst/>
          </a:prstGeom>
          <a:ln w="9525">
            <a:solidFill>
              <a:srgbClr val="D9D9D9"/>
            </a:solidFill>
          </a:ln>
        </p:spPr>
      </p:pic>
      <p:sp>
        <p:nvSpPr>
          <p:cNvPr id="9" name="TextBox 8"/>
          <p:cNvSpPr txBox="1"/>
          <p:nvPr/>
        </p:nvSpPr>
        <p:spPr>
          <a:xfrm>
            <a:off x="8503920" y="1463040"/>
            <a:ext cx="2697480" cy="329184"/>
          </a:xfrm>
          <a:prstGeom prst="rect">
            <a:avLst/>
          </a:prstGeom>
          <a:noFill/>
        </p:spPr>
        <p:txBody>
          <a:bodyPr wrap="square" lIns="0" tIns="0" rIns="0" bIns="0" anchor="t">
            <a:spAutoFit/>
          </a:bodyPr>
          <a:lstStyle/>
          <a:p>
            <a:pPr algn="l">
              <a:spcAft>
                <a:spcPts val="400"/>
              </a:spcAft>
            </a:pPr>
            <a:r>
              <a:rPr sz="1800" b="1" i="0">
                <a:solidFill>
                  <a:srgbClr val="63A537"/>
                </a:solidFill>
                <a:latin typeface="Tw Cen MT"/>
              </a:rPr>
              <a:t>7 pages</a:t>
            </a:r>
          </a:p>
        </p:txBody>
      </p:sp>
      <p:sp>
        <p:nvSpPr>
          <p:cNvPr id="10" name="TextBox 9"/>
          <p:cNvSpPr txBox="1"/>
          <p:nvPr/>
        </p:nvSpPr>
        <p:spPr>
          <a:xfrm>
            <a:off x="8503920" y="1792224"/>
            <a:ext cx="2697480" cy="548640"/>
          </a:xfrm>
          <a:prstGeom prst="rect">
            <a:avLst/>
          </a:prstGeom>
          <a:noFill/>
        </p:spPr>
        <p:txBody>
          <a:bodyPr wrap="square" lIns="0" tIns="0" rIns="0" bIns="0" anchor="t">
            <a:spAutoFit/>
          </a:bodyPr>
          <a:lstStyle/>
          <a:p>
            <a:pPr algn="l">
              <a:spcAft>
                <a:spcPts val="400"/>
              </a:spcAft>
            </a:pPr>
            <a:r>
              <a:rPr sz="1400" b="0" i="0">
                <a:solidFill>
                  <a:srgbClr val="1A1A1A"/>
                </a:solidFill>
                <a:latin typeface="Tw Cen MT"/>
              </a:rPr>
              <a:t>Home, Map &amp; Boroughs, Prices, Demand, Hosts, Insights, Data Pipeline</a:t>
            </a:r>
          </a:p>
        </p:txBody>
      </p:sp>
      <p:sp>
        <p:nvSpPr>
          <p:cNvPr id="11" name="TextBox 10"/>
          <p:cNvSpPr txBox="1"/>
          <p:nvPr/>
        </p:nvSpPr>
        <p:spPr>
          <a:xfrm>
            <a:off x="8503920" y="2304288"/>
            <a:ext cx="2697480" cy="329184"/>
          </a:xfrm>
          <a:prstGeom prst="rect">
            <a:avLst/>
          </a:prstGeom>
          <a:noFill/>
        </p:spPr>
        <p:txBody>
          <a:bodyPr wrap="square" lIns="0" tIns="0" rIns="0" bIns="0" anchor="t">
            <a:spAutoFit/>
          </a:bodyPr>
          <a:lstStyle/>
          <a:p>
            <a:pPr algn="l">
              <a:spcAft>
                <a:spcPts val="400"/>
              </a:spcAft>
            </a:pPr>
            <a:r>
              <a:rPr sz="1800" b="1" i="0">
                <a:solidFill>
                  <a:srgbClr val="63A537"/>
                </a:solidFill>
                <a:latin typeface="Tw Cen MT"/>
              </a:rPr>
              <a:t>44 DAX measures</a:t>
            </a:r>
          </a:p>
        </p:txBody>
      </p:sp>
      <p:sp>
        <p:nvSpPr>
          <p:cNvPr id="12" name="TextBox 11"/>
          <p:cNvSpPr txBox="1"/>
          <p:nvPr/>
        </p:nvSpPr>
        <p:spPr>
          <a:xfrm>
            <a:off x="8503920" y="2633472"/>
            <a:ext cx="2697480" cy="548640"/>
          </a:xfrm>
          <a:prstGeom prst="rect">
            <a:avLst/>
          </a:prstGeom>
          <a:noFill/>
        </p:spPr>
        <p:txBody>
          <a:bodyPr wrap="square" lIns="0" tIns="0" rIns="0" bIns="0" anchor="t">
            <a:spAutoFit/>
          </a:bodyPr>
          <a:lstStyle/>
          <a:p>
            <a:pPr algn="l">
              <a:spcAft>
                <a:spcPts val="400"/>
              </a:spcAft>
            </a:pPr>
            <a:r>
              <a:rPr sz="1400" b="0" i="0">
                <a:solidFill>
                  <a:srgbClr val="1A1A1A"/>
                </a:solidFill>
                <a:latin typeface="Tw Cen MT"/>
              </a:rPr>
              <a:t>KPI cards, gauge against the city median</a:t>
            </a:r>
          </a:p>
        </p:txBody>
      </p:sp>
      <p:sp>
        <p:nvSpPr>
          <p:cNvPr id="13" name="TextBox 12"/>
          <p:cNvSpPr txBox="1"/>
          <p:nvPr/>
        </p:nvSpPr>
        <p:spPr>
          <a:xfrm>
            <a:off x="8503920" y="3145536"/>
            <a:ext cx="2697480" cy="329184"/>
          </a:xfrm>
          <a:prstGeom prst="rect">
            <a:avLst/>
          </a:prstGeom>
          <a:noFill/>
        </p:spPr>
        <p:txBody>
          <a:bodyPr wrap="square" lIns="0" tIns="0" rIns="0" bIns="0" anchor="t">
            <a:spAutoFit/>
          </a:bodyPr>
          <a:lstStyle/>
          <a:p>
            <a:pPr algn="l">
              <a:spcAft>
                <a:spcPts val="400"/>
              </a:spcAft>
            </a:pPr>
            <a:r>
              <a:rPr sz="1800" b="1" i="0">
                <a:solidFill>
                  <a:srgbClr val="63A537"/>
                </a:solidFill>
                <a:latin typeface="Tw Cen MT"/>
              </a:rPr>
              <a:t>5 synchronised filters</a:t>
            </a:r>
          </a:p>
        </p:txBody>
      </p:sp>
      <p:sp>
        <p:nvSpPr>
          <p:cNvPr id="14" name="TextBox 13"/>
          <p:cNvSpPr txBox="1"/>
          <p:nvPr/>
        </p:nvSpPr>
        <p:spPr>
          <a:xfrm>
            <a:off x="8503920" y="3474720"/>
            <a:ext cx="2697480" cy="548640"/>
          </a:xfrm>
          <a:prstGeom prst="rect">
            <a:avLst/>
          </a:prstGeom>
          <a:noFill/>
        </p:spPr>
        <p:txBody>
          <a:bodyPr wrap="square" lIns="0" tIns="0" rIns="0" bIns="0" anchor="t">
            <a:spAutoFit/>
          </a:bodyPr>
          <a:lstStyle/>
          <a:p>
            <a:pPr algn="l">
              <a:spcAft>
                <a:spcPts val="400"/>
              </a:spcAft>
            </a:pPr>
            <a:r>
              <a:rPr sz="1400" b="0" i="0">
                <a:solidFill>
                  <a:srgbClr val="1A1A1A"/>
                </a:solidFill>
                <a:latin typeface="Tw Cen MT"/>
              </a:rPr>
              <a:t>borough, neighbourhood, room type, price, minimum stay</a:t>
            </a:r>
          </a:p>
        </p:txBody>
      </p:sp>
      <p:sp>
        <p:nvSpPr>
          <p:cNvPr id="15" name="TextBox 14"/>
          <p:cNvSpPr txBox="1"/>
          <p:nvPr/>
        </p:nvSpPr>
        <p:spPr>
          <a:xfrm>
            <a:off x="8503920" y="3986784"/>
            <a:ext cx="2697480" cy="329184"/>
          </a:xfrm>
          <a:prstGeom prst="rect">
            <a:avLst/>
          </a:prstGeom>
          <a:noFill/>
        </p:spPr>
        <p:txBody>
          <a:bodyPr wrap="square" lIns="0" tIns="0" rIns="0" bIns="0" anchor="t">
            <a:spAutoFit/>
          </a:bodyPr>
          <a:lstStyle/>
          <a:p>
            <a:pPr algn="l">
              <a:spcAft>
                <a:spcPts val="400"/>
              </a:spcAft>
            </a:pPr>
            <a:r>
              <a:rPr sz="1800" b="1" i="0">
                <a:solidFill>
                  <a:srgbClr val="63A537"/>
                </a:solidFill>
                <a:latin typeface="Tw Cen MT"/>
              </a:rPr>
              <a:t>Map of 48,645 listings</a:t>
            </a:r>
          </a:p>
        </p:txBody>
      </p:sp>
      <p:sp>
        <p:nvSpPr>
          <p:cNvPr id="16" name="TextBox 15"/>
          <p:cNvSpPr txBox="1"/>
          <p:nvPr/>
        </p:nvSpPr>
        <p:spPr>
          <a:xfrm>
            <a:off x="8503920" y="4315968"/>
            <a:ext cx="2697480" cy="548640"/>
          </a:xfrm>
          <a:prstGeom prst="rect">
            <a:avLst/>
          </a:prstGeom>
          <a:noFill/>
        </p:spPr>
        <p:txBody>
          <a:bodyPr wrap="square" lIns="0" tIns="0" rIns="0" bIns="0" anchor="t">
            <a:spAutoFit/>
          </a:bodyPr>
          <a:lstStyle/>
          <a:p>
            <a:pPr algn="l">
              <a:spcAft>
                <a:spcPts val="400"/>
              </a:spcAft>
            </a:pPr>
            <a:r>
              <a:rPr sz="1400" b="0" i="0">
                <a:solidFill>
                  <a:srgbClr val="1A1A1A"/>
                </a:solidFill>
                <a:latin typeface="Tw Cen MT"/>
              </a:rPr>
              <a:t>on the map supplied with the data</a:t>
            </a:r>
          </a:p>
        </p:txBody>
      </p:sp>
      <p:sp>
        <p:nvSpPr>
          <p:cNvPr id="17" name="TextBox 16"/>
          <p:cNvSpPr txBox="1"/>
          <p:nvPr/>
        </p:nvSpPr>
        <p:spPr>
          <a:xfrm>
            <a:off x="8503920" y="4828032"/>
            <a:ext cx="2697480" cy="329184"/>
          </a:xfrm>
          <a:prstGeom prst="rect">
            <a:avLst/>
          </a:prstGeom>
          <a:noFill/>
        </p:spPr>
        <p:txBody>
          <a:bodyPr wrap="square" lIns="0" tIns="0" rIns="0" bIns="0" anchor="t">
            <a:spAutoFit/>
          </a:bodyPr>
          <a:lstStyle/>
          <a:p>
            <a:pPr algn="l">
              <a:spcAft>
                <a:spcPts val="400"/>
              </a:spcAft>
            </a:pPr>
            <a:r>
              <a:rPr sz="1800" b="1" i="0">
                <a:solidFill>
                  <a:srgbClr val="63A537"/>
                </a:solidFill>
                <a:latin typeface="Tw Cen MT"/>
              </a:rPr>
              <a:t>Navigation</a:t>
            </a:r>
          </a:p>
        </p:txBody>
      </p:sp>
      <p:sp>
        <p:nvSpPr>
          <p:cNvPr id="18" name="TextBox 17"/>
          <p:cNvSpPr txBox="1"/>
          <p:nvPr/>
        </p:nvSpPr>
        <p:spPr>
          <a:xfrm>
            <a:off x="8503920" y="5157216"/>
            <a:ext cx="2697480" cy="548640"/>
          </a:xfrm>
          <a:prstGeom prst="rect">
            <a:avLst/>
          </a:prstGeom>
          <a:noFill/>
        </p:spPr>
        <p:txBody>
          <a:bodyPr wrap="square" lIns="0" tIns="0" rIns="0" bIns="0" anchor="t">
            <a:spAutoFit/>
          </a:bodyPr>
          <a:lstStyle/>
          <a:p>
            <a:pPr algn="l">
              <a:spcAft>
                <a:spcPts val="400"/>
              </a:spcAft>
            </a:pPr>
            <a:r>
              <a:rPr sz="1400" b="0" i="0">
                <a:solidFill>
                  <a:srgbClr val="1A1A1A"/>
                </a:solidFill>
                <a:latin typeface="Tw Cen MT"/>
              </a:rPr>
              <a:t>page navigator, picture tiles; cross-filtering on every chart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Dashboard pages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One page per group of questions, with the same filters on every analysis page.</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DASHBOARD</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16</a:t>
            </a:fld>
            <a:endParaRPr sz="1200" b="0" i="0">
              <a:solidFill>
                <a:srgbClr val="595959"/>
              </a:solidFill>
              <a:latin typeface="Tw Cen MT"/>
            </a:endParaRPr>
          </a:p>
        </p:txBody>
      </p:sp>
      <p:pic>
        <p:nvPicPr>
          <p:cNvPr id="8" name="Picture 7" descr="p2_map_boroughs.png"/>
          <p:cNvPicPr>
            <a:picLocks noChangeAspect="1"/>
          </p:cNvPicPr>
          <p:nvPr/>
        </p:nvPicPr>
        <p:blipFill>
          <a:blip r:embed="rId2"/>
          <a:stretch>
            <a:fillRect/>
          </a:stretch>
        </p:blipFill>
        <p:spPr>
          <a:xfrm>
            <a:off x="1867408" y="1371600"/>
            <a:ext cx="3251200" cy="1828800"/>
          </a:xfrm>
          <a:prstGeom prst="rect">
            <a:avLst/>
          </a:prstGeom>
          <a:ln w="9525">
            <a:solidFill>
              <a:srgbClr val="D9D9D9"/>
            </a:solidFill>
          </a:ln>
        </p:spPr>
      </p:pic>
      <p:sp>
        <p:nvSpPr>
          <p:cNvPr id="9" name="TextBox 8"/>
          <p:cNvSpPr txBox="1"/>
          <p:nvPr/>
        </p:nvSpPr>
        <p:spPr>
          <a:xfrm>
            <a:off x="1867408" y="3236976"/>
            <a:ext cx="3251200" cy="274320"/>
          </a:xfrm>
          <a:prstGeom prst="rect">
            <a:avLst/>
          </a:prstGeom>
          <a:noFill/>
        </p:spPr>
        <p:txBody>
          <a:bodyPr wrap="square" lIns="0" tIns="0" rIns="0" bIns="0" anchor="t">
            <a:spAutoFit/>
          </a:bodyPr>
          <a:lstStyle/>
          <a:p>
            <a:pPr algn="ctr">
              <a:spcAft>
                <a:spcPts val="400"/>
              </a:spcAft>
            </a:pPr>
            <a:r>
              <a:rPr sz="1400" b="0" i="0">
                <a:solidFill>
                  <a:srgbClr val="595959"/>
                </a:solidFill>
                <a:latin typeface="Tw Cen MT"/>
              </a:rPr>
              <a:t>Map &amp; Boroughs (Q1, Q2)</a:t>
            </a:r>
          </a:p>
        </p:txBody>
      </p:sp>
      <p:pic>
        <p:nvPicPr>
          <p:cNvPr id="10" name="Picture 9" descr="p3_prices.png"/>
          <p:cNvPicPr>
            <a:picLocks noChangeAspect="1"/>
          </p:cNvPicPr>
          <p:nvPr/>
        </p:nvPicPr>
        <p:blipFill>
          <a:blip r:embed="rId3"/>
          <a:stretch>
            <a:fillRect/>
          </a:stretch>
        </p:blipFill>
        <p:spPr>
          <a:xfrm>
            <a:off x="7079488" y="1371600"/>
            <a:ext cx="3251200" cy="1828800"/>
          </a:xfrm>
          <a:prstGeom prst="rect">
            <a:avLst/>
          </a:prstGeom>
          <a:ln w="9525">
            <a:solidFill>
              <a:srgbClr val="D9D9D9"/>
            </a:solidFill>
          </a:ln>
        </p:spPr>
      </p:pic>
      <p:sp>
        <p:nvSpPr>
          <p:cNvPr id="11" name="TextBox 10"/>
          <p:cNvSpPr txBox="1"/>
          <p:nvPr/>
        </p:nvSpPr>
        <p:spPr>
          <a:xfrm>
            <a:off x="7079488" y="3236976"/>
            <a:ext cx="3251200" cy="274320"/>
          </a:xfrm>
          <a:prstGeom prst="rect">
            <a:avLst/>
          </a:prstGeom>
          <a:noFill/>
        </p:spPr>
        <p:txBody>
          <a:bodyPr wrap="square" lIns="0" tIns="0" rIns="0" bIns="0" anchor="t">
            <a:spAutoFit/>
          </a:bodyPr>
          <a:lstStyle/>
          <a:p>
            <a:pPr algn="ctr">
              <a:spcAft>
                <a:spcPts val="400"/>
              </a:spcAft>
            </a:pPr>
            <a:r>
              <a:rPr sz="1400" b="0" i="0">
                <a:solidFill>
                  <a:srgbClr val="595959"/>
                </a:solidFill>
                <a:latin typeface="Tw Cen MT"/>
              </a:rPr>
              <a:t>Prices (Q3, Q5)</a:t>
            </a:r>
          </a:p>
        </p:txBody>
      </p:sp>
      <p:pic>
        <p:nvPicPr>
          <p:cNvPr id="12" name="Picture 11" descr="p4_demand.png"/>
          <p:cNvPicPr>
            <a:picLocks noChangeAspect="1"/>
          </p:cNvPicPr>
          <p:nvPr/>
        </p:nvPicPr>
        <p:blipFill>
          <a:blip r:embed="rId4"/>
          <a:stretch>
            <a:fillRect/>
          </a:stretch>
        </p:blipFill>
        <p:spPr>
          <a:xfrm>
            <a:off x="1867408" y="3584448"/>
            <a:ext cx="3251200" cy="1828800"/>
          </a:xfrm>
          <a:prstGeom prst="rect">
            <a:avLst/>
          </a:prstGeom>
          <a:ln w="9525">
            <a:solidFill>
              <a:srgbClr val="D9D9D9"/>
            </a:solidFill>
          </a:ln>
        </p:spPr>
      </p:pic>
      <p:sp>
        <p:nvSpPr>
          <p:cNvPr id="13" name="TextBox 12"/>
          <p:cNvSpPr txBox="1"/>
          <p:nvPr/>
        </p:nvSpPr>
        <p:spPr>
          <a:xfrm>
            <a:off x="1867408" y="5449824"/>
            <a:ext cx="3251200" cy="274320"/>
          </a:xfrm>
          <a:prstGeom prst="rect">
            <a:avLst/>
          </a:prstGeom>
          <a:noFill/>
        </p:spPr>
        <p:txBody>
          <a:bodyPr wrap="square" lIns="0" tIns="0" rIns="0" bIns="0" anchor="t">
            <a:spAutoFit/>
          </a:bodyPr>
          <a:lstStyle/>
          <a:p>
            <a:pPr algn="ctr">
              <a:spcAft>
                <a:spcPts val="400"/>
              </a:spcAft>
            </a:pPr>
            <a:r>
              <a:rPr sz="1400" b="0" i="0">
                <a:solidFill>
                  <a:srgbClr val="595959"/>
                </a:solidFill>
                <a:latin typeface="Tw Cen MT"/>
              </a:rPr>
              <a:t>Demand (Q2, Q4, Q6)</a:t>
            </a:r>
          </a:p>
        </p:txBody>
      </p:sp>
      <p:pic>
        <p:nvPicPr>
          <p:cNvPr id="14" name="Picture 13" descr="p5_hosts.png"/>
          <p:cNvPicPr>
            <a:picLocks noChangeAspect="1"/>
          </p:cNvPicPr>
          <p:nvPr/>
        </p:nvPicPr>
        <p:blipFill>
          <a:blip r:embed="rId5"/>
          <a:stretch>
            <a:fillRect/>
          </a:stretch>
        </p:blipFill>
        <p:spPr>
          <a:xfrm>
            <a:off x="7079488" y="3584448"/>
            <a:ext cx="3251200" cy="1828800"/>
          </a:xfrm>
          <a:prstGeom prst="rect">
            <a:avLst/>
          </a:prstGeom>
          <a:ln w="9525">
            <a:solidFill>
              <a:srgbClr val="D9D9D9"/>
            </a:solidFill>
          </a:ln>
        </p:spPr>
      </p:pic>
      <p:sp>
        <p:nvSpPr>
          <p:cNvPr id="15" name="TextBox 14"/>
          <p:cNvSpPr txBox="1"/>
          <p:nvPr/>
        </p:nvSpPr>
        <p:spPr>
          <a:xfrm>
            <a:off x="7079488" y="5449824"/>
            <a:ext cx="3251200" cy="274320"/>
          </a:xfrm>
          <a:prstGeom prst="rect">
            <a:avLst/>
          </a:prstGeom>
          <a:noFill/>
        </p:spPr>
        <p:txBody>
          <a:bodyPr wrap="square" lIns="0" tIns="0" rIns="0" bIns="0" anchor="t">
            <a:spAutoFit/>
          </a:bodyPr>
          <a:lstStyle/>
          <a:p>
            <a:pPr algn="ctr">
              <a:spcAft>
                <a:spcPts val="400"/>
              </a:spcAft>
            </a:pPr>
            <a:r>
              <a:rPr sz="1400" b="0" i="0">
                <a:solidFill>
                  <a:srgbClr val="595959"/>
                </a:solidFill>
                <a:latin typeface="Tw Cen MT"/>
              </a:rPr>
              <a:t>Hosts (Q7)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Business insights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What we found, what it means, and why it matters for the decisions.</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INSIGHTS</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17</a:t>
            </a:fld>
            <a:endParaRPr sz="1200" b="0" i="0">
              <a:solidFill>
                <a:srgbClr val="595959"/>
              </a:solidFill>
              <a:latin typeface="Tw Cen MT"/>
            </a:endParaRPr>
          </a:p>
        </p:txBody>
      </p:sp>
      <p:graphicFrame>
        <p:nvGraphicFramePr>
          <p:cNvPr id="8" name="Table 7"/>
          <p:cNvGraphicFramePr>
            <a:graphicFrameLocks noGrp="1"/>
          </p:cNvGraphicFramePr>
          <p:nvPr/>
        </p:nvGraphicFramePr>
        <p:xfrm>
          <a:off x="1024128" y="1463040"/>
          <a:ext cx="10149840" cy="403250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502920">
                <a:tc>
                  <a:txBody>
                    <a:bodyPr/>
                    <a:lstStyle/>
                    <a:p>
                      <a:r>
                        <a:rPr sz="1500" b="1">
                          <a:solidFill>
                            <a:srgbClr val="FFFFFF"/>
                          </a:solidFill>
                          <a:latin typeface="Tw Cen MT"/>
                        </a:rPr>
                        <a:t>What we found</a:t>
                      </a:r>
                    </a:p>
                  </a:txBody>
                  <a:tcPr marT="27432" marB="27432" anchor="ctr">
                    <a:solidFill>
                      <a:srgbClr val="63A537"/>
                    </a:solidFill>
                  </a:tcPr>
                </a:tc>
                <a:tc>
                  <a:txBody>
                    <a:bodyPr/>
                    <a:lstStyle/>
                    <a:p>
                      <a:r>
                        <a:rPr sz="1500" b="1">
                          <a:solidFill>
                            <a:srgbClr val="FFFFFF"/>
                          </a:solidFill>
                          <a:latin typeface="Tw Cen MT"/>
                        </a:rPr>
                        <a:t>What it means</a:t>
                      </a:r>
                    </a:p>
                  </a:txBody>
                  <a:tcPr marT="27432" marB="27432" anchor="ctr">
                    <a:solidFill>
                      <a:srgbClr val="63A537"/>
                    </a:solidFill>
                  </a:tcPr>
                </a:tc>
                <a:tc>
                  <a:txBody>
                    <a:bodyPr/>
                    <a:lstStyle/>
                    <a:p>
                      <a:r>
                        <a:rPr sz="1500" b="1">
                          <a:solidFill>
                            <a:srgbClr val="FFFFFF"/>
                          </a:solidFill>
                          <a:latin typeface="Tw Cen MT"/>
                        </a:rPr>
                        <a:t>Why it matters</a:t>
                      </a:r>
                    </a:p>
                  </a:txBody>
                  <a:tcPr marT="27432" marB="27432" anchor="ctr">
                    <a:solidFill>
                      <a:srgbClr val="63A537"/>
                    </a:solidFill>
                  </a:tcPr>
                </a:tc>
                <a:extLst>
                  <a:ext uri="{0D108BD9-81ED-4DB2-BD59-A6C34878D82A}">
                    <a16:rowId xmlns:a16="http://schemas.microsoft.com/office/drawing/2014/main" val="10000"/>
                  </a:ext>
                </a:extLst>
              </a:tr>
              <a:tr h="502920">
                <a:tc>
                  <a:txBody>
                    <a:bodyPr/>
                    <a:lstStyle/>
                    <a:p>
                      <a:r>
                        <a:rPr sz="1500" b="0">
                          <a:solidFill>
                            <a:srgbClr val="1A1A1A"/>
                          </a:solidFill>
                          <a:latin typeface="Tw Cen MT"/>
                        </a:rPr>
                        <a:t>52 % entire homes ($160), 46 % rooms ($70)</a:t>
                      </a:r>
                    </a:p>
                  </a:txBody>
                  <a:tcPr marT="27432" marB="27432" anchor="ctr">
                    <a:solidFill>
                      <a:srgbClr val="FFFFFF"/>
                    </a:solidFill>
                  </a:tcPr>
                </a:tc>
                <a:tc>
                  <a:txBody>
                    <a:bodyPr/>
                    <a:lstStyle/>
                    <a:p>
                      <a:r>
                        <a:rPr sz="1500" b="0">
                          <a:solidFill>
                            <a:srgbClr val="1A1A1A"/>
                          </a:solidFill>
                          <a:latin typeface="Tw Cen MT"/>
                        </a:rPr>
                        <a:t>two products, two kinds of guests</a:t>
                      </a:r>
                    </a:p>
                  </a:txBody>
                  <a:tcPr marT="27432" marB="27432" anchor="ctr">
                    <a:solidFill>
                      <a:srgbClr val="FFFFFF"/>
                    </a:solidFill>
                  </a:tcPr>
                </a:tc>
                <a:tc>
                  <a:txBody>
                    <a:bodyPr/>
                    <a:lstStyle/>
                    <a:p>
                      <a:r>
                        <a:rPr sz="1500" b="0">
                          <a:solidFill>
                            <a:srgbClr val="1A1A1A"/>
                          </a:solidFill>
                          <a:latin typeface="Tw Cen MT"/>
                        </a:rPr>
                        <a:t>compare prices within a room type</a:t>
                      </a:r>
                    </a:p>
                  </a:txBody>
                  <a:tcPr marT="27432" marB="27432" anchor="ctr">
                    <a:solidFill>
                      <a:srgbClr val="FFFFFF"/>
                    </a:solidFill>
                  </a:tcPr>
                </a:tc>
                <a:extLst>
                  <a:ext uri="{0D108BD9-81ED-4DB2-BD59-A6C34878D82A}">
                    <a16:rowId xmlns:a16="http://schemas.microsoft.com/office/drawing/2014/main" val="10001"/>
                  </a:ext>
                </a:extLst>
              </a:tr>
              <a:tr h="502920">
                <a:tc>
                  <a:txBody>
                    <a:bodyPr/>
                    <a:lstStyle/>
                    <a:p>
                      <a:r>
                        <a:rPr sz="1500" b="0">
                          <a:solidFill>
                            <a:srgbClr val="1A1A1A"/>
                          </a:solidFill>
                          <a:latin typeface="Tw Cen MT"/>
                        </a:rPr>
                        <a:t>Brooklyn: fewer listings, more reviews</a:t>
                      </a:r>
                    </a:p>
                  </a:txBody>
                  <a:tcPr marT="27432" marB="27432" anchor="ctr">
                    <a:solidFill>
                      <a:srgbClr val="F4F6F1"/>
                    </a:solidFill>
                  </a:tcPr>
                </a:tc>
                <a:tc>
                  <a:txBody>
                    <a:bodyPr/>
                    <a:lstStyle/>
                    <a:p>
                      <a:r>
                        <a:rPr sz="1500" b="0">
                          <a:solidFill>
                            <a:srgbClr val="1A1A1A"/>
                          </a:solidFill>
                          <a:latin typeface="Tw Cen MT"/>
                        </a:rPr>
                        <a:t>demand has moved beyond Manhattan</a:t>
                      </a:r>
                    </a:p>
                  </a:txBody>
                  <a:tcPr marT="27432" marB="27432" anchor="ctr">
                    <a:solidFill>
                      <a:srgbClr val="F4F6F1"/>
                    </a:solidFill>
                  </a:tcPr>
                </a:tc>
                <a:tc>
                  <a:txBody>
                    <a:bodyPr/>
                    <a:lstStyle/>
                    <a:p>
                      <a:r>
                        <a:rPr sz="1500" b="0">
                          <a:solidFill>
                            <a:srgbClr val="1A1A1A"/>
                          </a:solidFill>
                          <a:latin typeface="Tw Cen MT"/>
                        </a:rPr>
                        <a:t>Brooklyn matters as much for growth</a:t>
                      </a:r>
                    </a:p>
                  </a:txBody>
                  <a:tcPr marT="27432" marB="27432" anchor="ctr">
                    <a:solidFill>
                      <a:srgbClr val="F4F6F1"/>
                    </a:solidFill>
                  </a:tcPr>
                </a:tc>
                <a:extLst>
                  <a:ext uri="{0D108BD9-81ED-4DB2-BD59-A6C34878D82A}">
                    <a16:rowId xmlns:a16="http://schemas.microsoft.com/office/drawing/2014/main" val="10002"/>
                  </a:ext>
                </a:extLst>
              </a:tr>
              <a:tr h="502920">
                <a:tc>
                  <a:txBody>
                    <a:bodyPr/>
                    <a:lstStyle/>
                    <a:p>
                      <a:r>
                        <a:rPr sz="1500" b="0">
                          <a:solidFill>
                            <a:srgbClr val="1A1A1A"/>
                          </a:solidFill>
                          <a:latin typeface="Tw Cen MT"/>
                        </a:rPr>
                        <a:t>More reviews per listing outside Manhattan</a:t>
                      </a:r>
                    </a:p>
                  </a:txBody>
                  <a:tcPr marT="27432" marB="27432" anchor="ctr">
                    <a:solidFill>
                      <a:srgbClr val="FFFFFF"/>
                    </a:solidFill>
                  </a:tcPr>
                </a:tc>
                <a:tc>
                  <a:txBody>
                    <a:bodyPr/>
                    <a:lstStyle/>
                    <a:p>
                      <a:r>
                        <a:rPr sz="1500" b="0">
                          <a:solidFill>
                            <a:srgbClr val="1A1A1A"/>
                          </a:solidFill>
                          <a:latin typeface="Tw Cen MT"/>
                        </a:rPr>
                        <a:t>supply is short where demand is high</a:t>
                      </a:r>
                    </a:p>
                  </a:txBody>
                  <a:tcPr marT="27432" marB="27432" anchor="ctr">
                    <a:solidFill>
                      <a:srgbClr val="FFFFFF"/>
                    </a:solidFill>
                  </a:tcPr>
                </a:tc>
                <a:tc>
                  <a:txBody>
                    <a:bodyPr/>
                    <a:lstStyle/>
                    <a:p>
                      <a:r>
                        <a:rPr sz="1500" b="0">
                          <a:solidFill>
                            <a:srgbClr val="1A1A1A"/>
                          </a:solidFill>
                          <a:latin typeface="Tw Cen MT"/>
                        </a:rPr>
                        <a:t>less competition for new hosts</a:t>
                      </a:r>
                    </a:p>
                  </a:txBody>
                  <a:tcPr marT="27432" marB="27432" anchor="ctr">
                    <a:solidFill>
                      <a:srgbClr val="FFFFFF"/>
                    </a:solidFill>
                  </a:tcPr>
                </a:tc>
                <a:extLst>
                  <a:ext uri="{0D108BD9-81ED-4DB2-BD59-A6C34878D82A}">
                    <a16:rowId xmlns:a16="http://schemas.microsoft.com/office/drawing/2014/main" val="10003"/>
                  </a:ext>
                </a:extLst>
              </a:tr>
              <a:tr h="502920">
                <a:tc>
                  <a:txBody>
                    <a:bodyPr/>
                    <a:lstStyle/>
                    <a:p>
                      <a:r>
                        <a:rPr sz="1500" b="0">
                          <a:solidFill>
                            <a:srgbClr val="1A1A1A"/>
                          </a:solidFill>
                          <a:latin typeface="Tw Cen MT"/>
                        </a:rPr>
                        <a:t>Price falls with distance from Manhattan</a:t>
                      </a:r>
                    </a:p>
                  </a:txBody>
                  <a:tcPr marT="27432" marB="27432" anchor="ctr">
                    <a:solidFill>
                      <a:srgbClr val="F4F6F1"/>
                    </a:solidFill>
                  </a:tcPr>
                </a:tc>
                <a:tc>
                  <a:txBody>
                    <a:bodyPr/>
                    <a:lstStyle/>
                    <a:p>
                      <a:r>
                        <a:rPr sz="1500" b="0">
                          <a:solidFill>
                            <a:srgbClr val="1A1A1A"/>
                          </a:solidFill>
                          <a:latin typeface="Tw Cen MT"/>
                        </a:rPr>
                        <a:t>location sets the price level</a:t>
                      </a:r>
                    </a:p>
                  </a:txBody>
                  <a:tcPr marT="27432" marB="27432" anchor="ctr">
                    <a:solidFill>
                      <a:srgbClr val="F4F6F1"/>
                    </a:solidFill>
                  </a:tcPr>
                </a:tc>
                <a:tc>
                  <a:txBody>
                    <a:bodyPr/>
                    <a:lstStyle/>
                    <a:p>
                      <a:r>
                        <a:rPr sz="1500" b="0">
                          <a:solidFill>
                            <a:srgbClr val="1A1A1A"/>
                          </a:solidFill>
                          <a:latin typeface="Tw Cen MT"/>
                        </a:rPr>
                        <a:t>a city-wide average misleads</a:t>
                      </a:r>
                    </a:p>
                  </a:txBody>
                  <a:tcPr marT="27432" marB="27432" anchor="ctr">
                    <a:solidFill>
                      <a:srgbClr val="F4F6F1"/>
                    </a:solidFill>
                  </a:tcPr>
                </a:tc>
                <a:extLst>
                  <a:ext uri="{0D108BD9-81ED-4DB2-BD59-A6C34878D82A}">
                    <a16:rowId xmlns:a16="http://schemas.microsoft.com/office/drawing/2014/main" val="10004"/>
                  </a:ext>
                </a:extLst>
              </a:tr>
              <a:tr h="502920">
                <a:tc>
                  <a:txBody>
                    <a:bodyPr/>
                    <a:lstStyle/>
                    <a:p>
                      <a:r>
                        <a:rPr sz="1500" b="0">
                          <a:solidFill>
                            <a:srgbClr val="1A1A1A"/>
                          </a:solidFill>
                          <a:latin typeface="Tw Cen MT"/>
                        </a:rPr>
                        <a:t>Price and reviews unrelated (ρ = -0.05)</a:t>
                      </a:r>
                    </a:p>
                  </a:txBody>
                  <a:tcPr marT="27432" marB="27432" anchor="ctr">
                    <a:solidFill>
                      <a:srgbClr val="FFFFFF"/>
                    </a:solidFill>
                  </a:tcPr>
                </a:tc>
                <a:tc>
                  <a:txBody>
                    <a:bodyPr/>
                    <a:lstStyle/>
                    <a:p>
                      <a:r>
                        <a:rPr sz="1500" b="0">
                          <a:solidFill>
                            <a:srgbClr val="1A1A1A"/>
                          </a:solidFill>
                          <a:latin typeface="Tw Cen MT"/>
                        </a:rPr>
                        <a:t>reviews follow affordability</a:t>
                      </a:r>
                    </a:p>
                  </a:txBody>
                  <a:tcPr marT="27432" marB="27432" anchor="ctr">
                    <a:solidFill>
                      <a:srgbClr val="FFFFFF"/>
                    </a:solidFill>
                  </a:tcPr>
                </a:tc>
                <a:tc>
                  <a:txBody>
                    <a:bodyPr/>
                    <a:lstStyle/>
                    <a:p>
                      <a:r>
                        <a:rPr sz="1500" b="0">
                          <a:solidFill>
                            <a:srgbClr val="1A1A1A"/>
                          </a:solidFill>
                          <a:latin typeface="Tw Cen MT"/>
                        </a:rPr>
                        <a:t>a high price does not bring stays</a:t>
                      </a:r>
                    </a:p>
                  </a:txBody>
                  <a:tcPr marT="27432" marB="27432" anchor="ctr">
                    <a:solidFill>
                      <a:srgbClr val="FFFFFF"/>
                    </a:solidFill>
                  </a:tcPr>
                </a:tc>
                <a:extLst>
                  <a:ext uri="{0D108BD9-81ED-4DB2-BD59-A6C34878D82A}">
                    <a16:rowId xmlns:a16="http://schemas.microsoft.com/office/drawing/2014/main" val="10005"/>
                  </a:ext>
                </a:extLst>
              </a:tr>
              <a:tr h="502920">
                <a:tc>
                  <a:txBody>
                    <a:bodyPr/>
                    <a:lstStyle/>
                    <a:p>
                      <a:r>
                        <a:rPr sz="1500" b="0">
                          <a:solidFill>
                            <a:srgbClr val="1A1A1A"/>
                          </a:solidFill>
                          <a:latin typeface="Tw Cen MT"/>
                        </a:rPr>
                        <a:t>40 % of listings inactive in 12 months</a:t>
                      </a:r>
                    </a:p>
                  </a:txBody>
                  <a:tcPr marT="27432" marB="27432" anchor="ctr">
                    <a:solidFill>
                      <a:srgbClr val="F4F6F1"/>
                    </a:solidFill>
                  </a:tcPr>
                </a:tc>
                <a:tc>
                  <a:txBody>
                    <a:bodyPr/>
                    <a:lstStyle/>
                    <a:p>
                      <a:r>
                        <a:rPr sz="1500" b="0">
                          <a:solidFill>
                            <a:srgbClr val="1A1A1A"/>
                          </a:solidFill>
                          <a:latin typeface="Tw Cen MT"/>
                        </a:rPr>
                        <a:t>counts over-state the active supply</a:t>
                      </a:r>
                    </a:p>
                  </a:txBody>
                  <a:tcPr marT="27432" marB="27432" anchor="ctr">
                    <a:solidFill>
                      <a:srgbClr val="F4F6F1"/>
                    </a:solidFill>
                  </a:tcPr>
                </a:tc>
                <a:tc>
                  <a:txBody>
                    <a:bodyPr/>
                    <a:lstStyle/>
                    <a:p>
                      <a:r>
                        <a:rPr sz="1500" b="0">
                          <a:solidFill>
                            <a:srgbClr val="1A1A1A"/>
                          </a:solidFill>
                          <a:latin typeface="Tw Cen MT"/>
                        </a:rPr>
                        <a:t>search results and market size inflated</a:t>
                      </a:r>
                    </a:p>
                  </a:txBody>
                  <a:tcPr marT="27432" marB="27432" anchor="ctr">
                    <a:solidFill>
                      <a:srgbClr val="F4F6F1"/>
                    </a:solidFill>
                  </a:tcPr>
                </a:tc>
                <a:extLst>
                  <a:ext uri="{0D108BD9-81ED-4DB2-BD59-A6C34878D82A}">
                    <a16:rowId xmlns:a16="http://schemas.microsoft.com/office/drawing/2014/main" val="10006"/>
                  </a:ext>
                </a:extLst>
              </a:tr>
              <a:tr h="502920">
                <a:tc>
                  <a:txBody>
                    <a:bodyPr/>
                    <a:lstStyle/>
                    <a:p>
                      <a:r>
                        <a:rPr sz="1500" b="0">
                          <a:solidFill>
                            <a:srgbClr val="1A1A1A"/>
                          </a:solidFill>
                          <a:latin typeface="Tw Cen MT"/>
                        </a:rPr>
                        <a:t>0.9 % of hosts run 10 % of listings</a:t>
                      </a:r>
                    </a:p>
                  </a:txBody>
                  <a:tcPr marT="27432" marB="27432" anchor="ctr">
                    <a:solidFill>
                      <a:srgbClr val="FFFFFF"/>
                    </a:solidFill>
                  </a:tcPr>
                </a:tc>
                <a:tc>
                  <a:txBody>
                    <a:bodyPr/>
                    <a:lstStyle/>
                    <a:p>
                      <a:r>
                        <a:rPr sz="1500" b="0">
                          <a:solidFill>
                            <a:srgbClr val="1A1A1A"/>
                          </a:solidFill>
                          <a:latin typeface="Tw Cen MT"/>
                        </a:rPr>
                        <a:t>a professional segment</a:t>
                      </a:r>
                    </a:p>
                  </a:txBody>
                  <a:tcPr marT="27432" marB="27432" anchor="ctr">
                    <a:solidFill>
                      <a:srgbClr val="FFFFFF"/>
                    </a:solidFill>
                  </a:tcPr>
                </a:tc>
                <a:tc>
                  <a:txBody>
                    <a:bodyPr/>
                    <a:lstStyle/>
                    <a:p>
                      <a:r>
                        <a:rPr sz="1500" b="0">
                          <a:solidFill>
                            <a:srgbClr val="1A1A1A"/>
                          </a:solidFill>
                          <a:latin typeface="Tw Cen MT"/>
                        </a:rPr>
                        <a:t>targeted checks for the city</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Recommendations</a:t>
            </a:r>
          </a:p>
        </p:txBody>
      </p:sp>
      <p:sp>
        <p:nvSpPr>
          <p:cNvPr id="3" name="Rectangle 2"/>
          <p:cNvSpPr/>
          <p:nvPr/>
        </p:nvSpPr>
        <p:spPr>
          <a:xfrm>
            <a:off x="1024128" y="5833872"/>
            <a:ext cx="64008" cy="411480"/>
          </a:xfrm>
          <a:prstGeom prst="rect">
            <a:avLst/>
          </a:prstGeom>
          <a:solidFill>
            <a:srgbClr val="63A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252728" y="5833872"/>
            <a:ext cx="9921240" cy="411480"/>
          </a:xfrm>
          <a:prstGeom prst="rect">
            <a:avLst/>
          </a:prstGeom>
          <a:noFill/>
        </p:spPr>
        <p:txBody>
          <a:bodyPr wrap="square" lIns="0" tIns="0" rIns="0" bIns="0" anchor="ctr">
            <a:spAutoFit/>
          </a:bodyPr>
          <a:lstStyle/>
          <a:p>
            <a:pPr algn="l">
              <a:spcAft>
                <a:spcPts val="400"/>
              </a:spcAft>
            </a:pPr>
            <a:r>
              <a:rPr sz="2000" b="0" i="0">
                <a:solidFill>
                  <a:srgbClr val="455F51"/>
                </a:solidFill>
                <a:latin typeface="Tw Cen MT"/>
              </a:rPr>
              <a:t>Price against the right benchmark, grow where demand is, activate the dormant supply.</a:t>
            </a:r>
          </a:p>
        </p:txBody>
      </p:sp>
      <p:sp>
        <p:nvSpPr>
          <p:cNvPr id="5" name="TextBox 4"/>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RECOMMENDATIONS</a:t>
            </a:r>
          </a:p>
        </p:txBody>
      </p:sp>
      <p:sp>
        <p:nvSpPr>
          <p:cNvPr id="6" name="TextBox 5"/>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7" name="TextBox 6"/>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18</a:t>
            </a:fld>
            <a:endParaRPr sz="1200" b="0" i="0">
              <a:solidFill>
                <a:srgbClr val="595959"/>
              </a:solidFill>
              <a:latin typeface="Tw Cen MT"/>
            </a:endParaRPr>
          </a:p>
        </p:txBody>
      </p:sp>
      <p:sp>
        <p:nvSpPr>
          <p:cNvPr id="8" name="Rounded Rectangle 7"/>
          <p:cNvSpPr/>
          <p:nvPr/>
        </p:nvSpPr>
        <p:spPr>
          <a:xfrm>
            <a:off x="1024128" y="1508760"/>
            <a:ext cx="2331720" cy="4069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25296" y="1645920"/>
            <a:ext cx="1965960" cy="457200"/>
          </a:xfrm>
          <a:prstGeom prst="rect">
            <a:avLst/>
          </a:prstGeom>
          <a:noFill/>
        </p:spPr>
        <p:txBody>
          <a:bodyPr wrap="square" lIns="0" tIns="0" rIns="0" bIns="0" anchor="t">
            <a:spAutoFit/>
          </a:bodyPr>
          <a:lstStyle/>
          <a:p>
            <a:pPr algn="l">
              <a:spcAft>
                <a:spcPts val="400"/>
              </a:spcAft>
            </a:pPr>
            <a:r>
              <a:rPr sz="2200" b="1" i="0">
                <a:solidFill>
                  <a:srgbClr val="63A537"/>
                </a:solidFill>
                <a:latin typeface="Tw Cen MT"/>
              </a:rPr>
              <a:t>Hosts</a:t>
            </a:r>
          </a:p>
        </p:txBody>
      </p:sp>
      <p:sp>
        <p:nvSpPr>
          <p:cNvPr id="10" name="TextBox 9"/>
          <p:cNvSpPr txBox="1"/>
          <p:nvPr/>
        </p:nvSpPr>
        <p:spPr>
          <a:xfrm>
            <a:off x="1225296" y="2240280"/>
            <a:ext cx="1965960" cy="3200400"/>
          </a:xfrm>
          <a:prstGeom prst="rect">
            <a:avLst/>
          </a:prstGeom>
          <a:noFill/>
        </p:spPr>
        <p:txBody>
          <a:bodyPr wrap="square" lIns="0" tIns="0" rIns="0" bIns="0" anchor="t">
            <a:spAutoFit/>
          </a:bodyPr>
          <a:lstStyle/>
          <a:p>
            <a:pPr algn="l">
              <a:spcAft>
                <a:spcPts val="1200"/>
              </a:spcAft>
            </a:pPr>
            <a:r>
              <a:rPr sz="1700" b="0" i="0">
                <a:solidFill>
                  <a:srgbClr val="1A1A1A"/>
                </a:solidFill>
                <a:latin typeface="Tw Cen MT"/>
              </a:rPr>
              <a:t>• Price against the median of the same room type in the same neighbourhood.</a:t>
            </a:r>
          </a:p>
          <a:p>
            <a:pPr algn="l">
              <a:spcAft>
                <a:spcPts val="1200"/>
              </a:spcAft>
            </a:pPr>
            <a:r>
              <a:rPr sz="1700" b="0" i="0">
                <a:solidFill>
                  <a:srgbClr val="1A1A1A"/>
                </a:solidFill>
                <a:latin typeface="Tw Cen MT"/>
              </a:rPr>
              <a:t>• Consider Queens and the airport areas.</a:t>
            </a:r>
          </a:p>
          <a:p>
            <a:pPr algn="l">
              <a:spcAft>
                <a:spcPts val="1200"/>
              </a:spcAft>
            </a:pPr>
            <a:r>
              <a:rPr sz="1700" b="0" i="0">
                <a:solidFill>
                  <a:srgbClr val="1A1A1A"/>
                </a:solidFill>
                <a:latin typeface="Tw Cen MT"/>
              </a:rPr>
              <a:t>• Open the calendar, shorten the minimum stay.</a:t>
            </a:r>
          </a:p>
        </p:txBody>
      </p:sp>
      <p:sp>
        <p:nvSpPr>
          <p:cNvPr id="11" name="Rounded Rectangle 10"/>
          <p:cNvSpPr/>
          <p:nvPr/>
        </p:nvSpPr>
        <p:spPr>
          <a:xfrm>
            <a:off x="3630168" y="1508760"/>
            <a:ext cx="2331720" cy="4069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831336" y="1645920"/>
            <a:ext cx="1965960" cy="457200"/>
          </a:xfrm>
          <a:prstGeom prst="rect">
            <a:avLst/>
          </a:prstGeom>
          <a:noFill/>
        </p:spPr>
        <p:txBody>
          <a:bodyPr wrap="square" lIns="0" tIns="0" rIns="0" bIns="0" anchor="t">
            <a:spAutoFit/>
          </a:bodyPr>
          <a:lstStyle/>
          <a:p>
            <a:pPr algn="l">
              <a:spcAft>
                <a:spcPts val="400"/>
              </a:spcAft>
            </a:pPr>
            <a:r>
              <a:rPr sz="2200" b="1" i="0">
                <a:solidFill>
                  <a:srgbClr val="63A537"/>
                </a:solidFill>
                <a:latin typeface="Tw Cen MT"/>
              </a:rPr>
              <a:t>Airbnb</a:t>
            </a:r>
          </a:p>
        </p:txBody>
      </p:sp>
      <p:sp>
        <p:nvSpPr>
          <p:cNvPr id="13" name="TextBox 12"/>
          <p:cNvSpPr txBox="1"/>
          <p:nvPr/>
        </p:nvSpPr>
        <p:spPr>
          <a:xfrm>
            <a:off x="3831336" y="2240280"/>
            <a:ext cx="1965960" cy="3200400"/>
          </a:xfrm>
          <a:prstGeom prst="rect">
            <a:avLst/>
          </a:prstGeom>
          <a:noFill/>
        </p:spPr>
        <p:txBody>
          <a:bodyPr wrap="square" lIns="0" tIns="0" rIns="0" bIns="0" anchor="t">
            <a:spAutoFit/>
          </a:bodyPr>
          <a:lstStyle/>
          <a:p>
            <a:pPr algn="l">
              <a:spcAft>
                <a:spcPts val="1200"/>
              </a:spcAft>
            </a:pPr>
            <a:r>
              <a:rPr sz="1700" b="0" i="0">
                <a:solidFill>
                  <a:srgbClr val="1A1A1A"/>
                </a:solidFill>
                <a:latin typeface="Tw Cen MT"/>
              </a:rPr>
              <a:t>• Activate dormant listings: 20 % never reviewed, 36 % closed.</a:t>
            </a:r>
          </a:p>
          <a:p>
            <a:pPr algn="l">
              <a:spcAft>
                <a:spcPts val="1200"/>
              </a:spcAft>
            </a:pPr>
            <a:r>
              <a:rPr sz="1700" b="0" i="0">
                <a:solidFill>
                  <a:srgbClr val="1A1A1A"/>
                </a:solidFill>
                <a:latin typeface="Tw Cen MT"/>
              </a:rPr>
              <a:t>• Recruit hosts where demand per listing is high.</a:t>
            </a:r>
          </a:p>
          <a:p>
            <a:pPr algn="l">
              <a:spcAft>
                <a:spcPts val="1200"/>
              </a:spcAft>
            </a:pPr>
            <a:r>
              <a:rPr sz="1700" b="0" i="0">
                <a:solidFill>
                  <a:srgbClr val="1A1A1A"/>
                </a:solidFill>
                <a:latin typeface="Tw Cen MT"/>
              </a:rPr>
              <a:t>• Segment: short trips, families, monthly stays.</a:t>
            </a:r>
          </a:p>
        </p:txBody>
      </p:sp>
      <p:sp>
        <p:nvSpPr>
          <p:cNvPr id="14" name="Rounded Rectangle 13"/>
          <p:cNvSpPr/>
          <p:nvPr/>
        </p:nvSpPr>
        <p:spPr>
          <a:xfrm>
            <a:off x="6236208" y="1508760"/>
            <a:ext cx="2331720" cy="4069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37376" y="1645920"/>
            <a:ext cx="1965960" cy="457200"/>
          </a:xfrm>
          <a:prstGeom prst="rect">
            <a:avLst/>
          </a:prstGeom>
          <a:noFill/>
        </p:spPr>
        <p:txBody>
          <a:bodyPr wrap="square" lIns="0" tIns="0" rIns="0" bIns="0" anchor="t">
            <a:spAutoFit/>
          </a:bodyPr>
          <a:lstStyle/>
          <a:p>
            <a:pPr algn="l">
              <a:spcAft>
                <a:spcPts val="400"/>
              </a:spcAft>
            </a:pPr>
            <a:r>
              <a:rPr sz="2200" b="1" i="0">
                <a:solidFill>
                  <a:srgbClr val="63A537"/>
                </a:solidFill>
                <a:latin typeface="Tw Cen MT"/>
              </a:rPr>
              <a:t>City</a:t>
            </a:r>
          </a:p>
        </p:txBody>
      </p:sp>
      <p:sp>
        <p:nvSpPr>
          <p:cNvPr id="16" name="TextBox 15"/>
          <p:cNvSpPr txBox="1"/>
          <p:nvPr/>
        </p:nvSpPr>
        <p:spPr>
          <a:xfrm>
            <a:off x="6437376" y="2240280"/>
            <a:ext cx="1965960" cy="3200400"/>
          </a:xfrm>
          <a:prstGeom prst="rect">
            <a:avLst/>
          </a:prstGeom>
          <a:noFill/>
        </p:spPr>
        <p:txBody>
          <a:bodyPr wrap="square" lIns="0" tIns="0" rIns="0" bIns="0" anchor="t">
            <a:spAutoFit/>
          </a:bodyPr>
          <a:lstStyle/>
          <a:p>
            <a:pPr algn="l">
              <a:spcAft>
                <a:spcPts val="1200"/>
              </a:spcAft>
            </a:pPr>
            <a:r>
              <a:rPr sz="1700" b="0" i="0">
                <a:solidFill>
                  <a:srgbClr val="1A1A1A"/>
                </a:solidFill>
                <a:latin typeface="Tw Cen MT"/>
              </a:rPr>
              <a:t>• Follow the 343 hosts with 6+ listings (4,755 listings).</a:t>
            </a:r>
          </a:p>
          <a:p>
            <a:pPr algn="l">
              <a:spcAft>
                <a:spcPts val="1200"/>
              </a:spcAft>
            </a:pPr>
            <a:r>
              <a:rPr sz="1700" b="0" i="0">
                <a:solidFill>
                  <a:srgbClr val="1A1A1A"/>
                </a:solidFill>
                <a:latin typeface="Tw Cen MT"/>
              </a:rPr>
              <a:t>• Check short-term rental rules there, not on home sharers.</a:t>
            </a:r>
          </a:p>
        </p:txBody>
      </p:sp>
      <p:sp>
        <p:nvSpPr>
          <p:cNvPr id="17" name="Rounded Rectangle 16"/>
          <p:cNvSpPr/>
          <p:nvPr/>
        </p:nvSpPr>
        <p:spPr>
          <a:xfrm>
            <a:off x="8842248" y="1508760"/>
            <a:ext cx="2331720" cy="406908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043416" y="1645920"/>
            <a:ext cx="1965960" cy="457200"/>
          </a:xfrm>
          <a:prstGeom prst="rect">
            <a:avLst/>
          </a:prstGeom>
          <a:noFill/>
        </p:spPr>
        <p:txBody>
          <a:bodyPr wrap="square" lIns="0" tIns="0" rIns="0" bIns="0" anchor="t">
            <a:spAutoFit/>
          </a:bodyPr>
          <a:lstStyle/>
          <a:p>
            <a:pPr algn="l">
              <a:spcAft>
                <a:spcPts val="400"/>
              </a:spcAft>
            </a:pPr>
            <a:r>
              <a:rPr sz="2200" b="1" i="0">
                <a:solidFill>
                  <a:srgbClr val="63A537"/>
                </a:solidFill>
                <a:latin typeface="Tw Cen MT"/>
              </a:rPr>
              <a:t>Next analysis</a:t>
            </a:r>
          </a:p>
        </p:txBody>
      </p:sp>
      <p:sp>
        <p:nvSpPr>
          <p:cNvPr id="19" name="TextBox 18"/>
          <p:cNvSpPr txBox="1"/>
          <p:nvPr/>
        </p:nvSpPr>
        <p:spPr>
          <a:xfrm>
            <a:off x="9043416" y="2240280"/>
            <a:ext cx="1965960" cy="3200400"/>
          </a:xfrm>
          <a:prstGeom prst="rect">
            <a:avLst/>
          </a:prstGeom>
          <a:noFill/>
        </p:spPr>
        <p:txBody>
          <a:bodyPr wrap="square" lIns="0" tIns="0" rIns="0" bIns="0" anchor="t">
            <a:spAutoFit/>
          </a:bodyPr>
          <a:lstStyle/>
          <a:p>
            <a:pPr algn="l">
              <a:spcAft>
                <a:spcPts val="1200"/>
              </a:spcAft>
            </a:pPr>
            <a:r>
              <a:rPr sz="1700" b="0" i="0">
                <a:solidFill>
                  <a:srgbClr val="1A1A1A"/>
                </a:solidFill>
                <a:latin typeface="Tw Cen MT"/>
              </a:rPr>
              <a:t>• Add ratings, bookings and property size.</a:t>
            </a:r>
          </a:p>
          <a:p>
            <a:pPr algn="l">
              <a:spcAft>
                <a:spcPts val="1200"/>
              </a:spcAft>
            </a:pPr>
            <a:r>
              <a:rPr sz="1700" b="0" i="0">
                <a:solidFill>
                  <a:srgbClr val="1A1A1A"/>
                </a:solidFill>
                <a:latin typeface="Tw Cen MT"/>
              </a:rPr>
              <a:t>• Repeat on several snapshots for trends.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Conclusion</a:t>
            </a:r>
          </a:p>
        </p:txBody>
      </p:sp>
      <p:sp>
        <p:nvSpPr>
          <p:cNvPr id="3" name="TextBox 2"/>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CONCLUSION</a:t>
            </a:r>
          </a:p>
        </p:txBody>
      </p:sp>
      <p:sp>
        <p:nvSpPr>
          <p:cNvPr id="4" name="TextBox 3"/>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5" name="TextBox 4"/>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19</a:t>
            </a:fld>
            <a:endParaRPr sz="1200" b="0" i="0">
              <a:solidFill>
                <a:srgbClr val="595959"/>
              </a:solidFill>
              <a:latin typeface="Tw Cen MT"/>
            </a:endParaRPr>
          </a:p>
        </p:txBody>
      </p:sp>
      <p:sp>
        <p:nvSpPr>
          <p:cNvPr id="6" name="Rounded Rectangle 5"/>
          <p:cNvSpPr/>
          <p:nvPr/>
        </p:nvSpPr>
        <p:spPr>
          <a:xfrm>
            <a:off x="1024128" y="1508760"/>
            <a:ext cx="2331720" cy="192024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691640"/>
            <a:ext cx="1920240" cy="731520"/>
          </a:xfrm>
          <a:prstGeom prst="rect">
            <a:avLst/>
          </a:prstGeom>
          <a:noFill/>
        </p:spPr>
        <p:txBody>
          <a:bodyPr wrap="square" lIns="0" tIns="0" rIns="0" bIns="0" anchor="t">
            <a:spAutoFit/>
          </a:bodyPr>
          <a:lstStyle/>
          <a:p>
            <a:pPr algn="l">
              <a:spcAft>
                <a:spcPts val="400"/>
              </a:spcAft>
            </a:pPr>
            <a:r>
              <a:rPr sz="4400" b="1" i="0">
                <a:solidFill>
                  <a:srgbClr val="0E3A73"/>
                </a:solidFill>
                <a:latin typeface="Tw Cen MT Condensed"/>
              </a:rPr>
              <a:t>2</a:t>
            </a:r>
          </a:p>
        </p:txBody>
      </p:sp>
      <p:sp>
        <p:nvSpPr>
          <p:cNvPr id="8" name="TextBox 7"/>
          <p:cNvSpPr txBox="1"/>
          <p:nvPr/>
        </p:nvSpPr>
        <p:spPr>
          <a:xfrm>
            <a:off x="1252728" y="2514600"/>
            <a:ext cx="1920240" cy="86868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products: entire homes and private rooms</a:t>
            </a:r>
          </a:p>
        </p:txBody>
      </p:sp>
      <p:sp>
        <p:nvSpPr>
          <p:cNvPr id="9" name="Rounded Rectangle 8"/>
          <p:cNvSpPr/>
          <p:nvPr/>
        </p:nvSpPr>
        <p:spPr>
          <a:xfrm>
            <a:off x="3630168" y="1508760"/>
            <a:ext cx="2331720" cy="192024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858768" y="1691640"/>
            <a:ext cx="1920240" cy="731520"/>
          </a:xfrm>
          <a:prstGeom prst="rect">
            <a:avLst/>
          </a:prstGeom>
          <a:noFill/>
        </p:spPr>
        <p:txBody>
          <a:bodyPr wrap="square" lIns="0" tIns="0" rIns="0" bIns="0" anchor="t">
            <a:spAutoFit/>
          </a:bodyPr>
          <a:lstStyle/>
          <a:p>
            <a:pPr algn="l">
              <a:spcAft>
                <a:spcPts val="400"/>
              </a:spcAft>
            </a:pPr>
            <a:r>
              <a:rPr sz="4400" b="1" i="0">
                <a:solidFill>
                  <a:srgbClr val="2A78D6"/>
                </a:solidFill>
                <a:latin typeface="Tw Cen MT Condensed"/>
              </a:rPr>
              <a:t>85 %</a:t>
            </a:r>
          </a:p>
        </p:txBody>
      </p:sp>
      <p:sp>
        <p:nvSpPr>
          <p:cNvPr id="11" name="TextBox 10"/>
          <p:cNvSpPr txBox="1"/>
          <p:nvPr/>
        </p:nvSpPr>
        <p:spPr>
          <a:xfrm>
            <a:off x="3858768" y="2514600"/>
            <a:ext cx="1920240" cy="86868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of listings in Manhattan and Brooklyn</a:t>
            </a:r>
          </a:p>
        </p:txBody>
      </p:sp>
      <p:sp>
        <p:nvSpPr>
          <p:cNvPr id="12" name="Rounded Rectangle 11"/>
          <p:cNvSpPr/>
          <p:nvPr/>
        </p:nvSpPr>
        <p:spPr>
          <a:xfrm>
            <a:off x="6236208" y="1508760"/>
            <a:ext cx="2331720" cy="192024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64808" y="1691640"/>
            <a:ext cx="1920240" cy="731520"/>
          </a:xfrm>
          <a:prstGeom prst="rect">
            <a:avLst/>
          </a:prstGeom>
          <a:noFill/>
        </p:spPr>
        <p:txBody>
          <a:bodyPr wrap="square" lIns="0" tIns="0" rIns="0" bIns="0" anchor="t">
            <a:spAutoFit/>
          </a:bodyPr>
          <a:lstStyle/>
          <a:p>
            <a:pPr algn="l">
              <a:spcAft>
                <a:spcPts val="400"/>
              </a:spcAft>
            </a:pPr>
            <a:r>
              <a:rPr sz="4400" b="1" i="0">
                <a:solidFill>
                  <a:srgbClr val="E8474D"/>
                </a:solidFill>
                <a:latin typeface="Tw Cen MT Condensed"/>
              </a:rPr>
              <a:t>+119 %</a:t>
            </a:r>
          </a:p>
        </p:txBody>
      </p:sp>
      <p:sp>
        <p:nvSpPr>
          <p:cNvPr id="14" name="TextBox 13"/>
          <p:cNvSpPr txBox="1"/>
          <p:nvPr/>
        </p:nvSpPr>
        <p:spPr>
          <a:xfrm>
            <a:off x="6464808" y="2514600"/>
            <a:ext cx="1920240" cy="86868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for an entire home, other things equal</a:t>
            </a:r>
          </a:p>
        </p:txBody>
      </p:sp>
      <p:sp>
        <p:nvSpPr>
          <p:cNvPr id="15" name="Rounded Rectangle 14"/>
          <p:cNvSpPr/>
          <p:nvPr/>
        </p:nvSpPr>
        <p:spPr>
          <a:xfrm>
            <a:off x="8842248" y="1508760"/>
            <a:ext cx="2331720" cy="1920240"/>
          </a:xfrm>
          <a:prstGeom prst="roundRect">
            <a:avLst>
              <a:gd name="adj" fmla="val 4000"/>
            </a:avLst>
          </a:prstGeom>
          <a:solidFill>
            <a:srgbClr val="F4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070848" y="1691640"/>
            <a:ext cx="1920240" cy="731520"/>
          </a:xfrm>
          <a:prstGeom prst="rect">
            <a:avLst/>
          </a:prstGeom>
          <a:noFill/>
        </p:spPr>
        <p:txBody>
          <a:bodyPr wrap="square" lIns="0" tIns="0" rIns="0" bIns="0" anchor="t">
            <a:spAutoFit/>
          </a:bodyPr>
          <a:lstStyle/>
          <a:p>
            <a:pPr algn="l">
              <a:spcAft>
                <a:spcPts val="400"/>
              </a:spcAft>
            </a:pPr>
            <a:r>
              <a:rPr sz="4400" b="1" i="0">
                <a:solidFill>
                  <a:srgbClr val="D03B3B"/>
                </a:solidFill>
                <a:latin typeface="Tw Cen MT Condensed"/>
              </a:rPr>
              <a:t>40 %</a:t>
            </a:r>
          </a:p>
        </p:txBody>
      </p:sp>
      <p:sp>
        <p:nvSpPr>
          <p:cNvPr id="17" name="TextBox 16"/>
          <p:cNvSpPr txBox="1"/>
          <p:nvPr/>
        </p:nvSpPr>
        <p:spPr>
          <a:xfrm>
            <a:off x="9070848" y="2514600"/>
            <a:ext cx="1920240" cy="868680"/>
          </a:xfrm>
          <a:prstGeom prst="rect">
            <a:avLst/>
          </a:prstGeom>
          <a:noFill/>
        </p:spPr>
        <p:txBody>
          <a:bodyPr wrap="square" lIns="0" tIns="0" rIns="0" bIns="0" anchor="t">
            <a:spAutoFit/>
          </a:bodyPr>
          <a:lstStyle/>
          <a:p>
            <a:pPr algn="l">
              <a:spcAft>
                <a:spcPts val="400"/>
              </a:spcAft>
            </a:pPr>
            <a:r>
              <a:rPr sz="1700" b="0" i="0">
                <a:solidFill>
                  <a:srgbClr val="1A1A1A"/>
                </a:solidFill>
                <a:latin typeface="Tw Cen MT"/>
              </a:rPr>
              <a:t>of the listed supply looks inactive</a:t>
            </a:r>
          </a:p>
        </p:txBody>
      </p:sp>
      <p:sp>
        <p:nvSpPr>
          <p:cNvPr id="18" name="TextBox 17"/>
          <p:cNvSpPr txBox="1"/>
          <p:nvPr/>
        </p:nvSpPr>
        <p:spPr>
          <a:xfrm>
            <a:off x="1024128" y="3703320"/>
            <a:ext cx="10149840" cy="1188720"/>
          </a:xfrm>
          <a:prstGeom prst="rect">
            <a:avLst/>
          </a:prstGeom>
          <a:noFill/>
        </p:spPr>
        <p:txBody>
          <a:bodyPr wrap="square" lIns="0" tIns="0" rIns="0" bIns="0" anchor="t">
            <a:spAutoFit/>
          </a:bodyPr>
          <a:lstStyle/>
          <a:p>
            <a:pPr algn="l">
              <a:spcAft>
                <a:spcPts val="400"/>
              </a:spcAft>
            </a:pPr>
            <a:r>
              <a:rPr sz="1900" b="0" i="0">
                <a:solidFill>
                  <a:srgbClr val="595959"/>
                </a:solidFill>
                <a:latin typeface="Tw Cen MT"/>
              </a:rPr>
              <a:t>The New York Airbnb market of 2019 is two products concentrated in Manhattan and Brooklyn, where the room type and the location set the price. Demand does not follow the price: it is strongest for affordable rooms in the outer boroughs and near the airports.</a:t>
            </a:r>
          </a:p>
        </p:txBody>
      </p:sp>
      <p:sp>
        <p:nvSpPr>
          <p:cNvPr id="19" name="Rectangle 18"/>
          <p:cNvSpPr/>
          <p:nvPr/>
        </p:nvSpPr>
        <p:spPr>
          <a:xfrm>
            <a:off x="1024128" y="5074920"/>
            <a:ext cx="10149840" cy="685800"/>
          </a:xfrm>
          <a:prstGeom prst="rect">
            <a:avLst/>
          </a:prstGeom>
          <a:solidFill>
            <a:srgbClr val="455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298448" y="5074920"/>
            <a:ext cx="5486400" cy="685800"/>
          </a:xfrm>
          <a:prstGeom prst="rect">
            <a:avLst/>
          </a:prstGeom>
          <a:noFill/>
        </p:spPr>
        <p:txBody>
          <a:bodyPr wrap="square" lIns="0" tIns="0" rIns="0" bIns="0" anchor="ctr">
            <a:spAutoFit/>
          </a:bodyPr>
          <a:lstStyle/>
          <a:p>
            <a:pPr algn="l">
              <a:spcAft>
                <a:spcPts val="400"/>
              </a:spcAft>
            </a:pPr>
            <a:r>
              <a:rPr sz="2600" b="1" i="0">
                <a:solidFill>
                  <a:srgbClr val="FFFFFF"/>
                </a:solidFill>
                <a:latin typeface="Tw Cen MT"/>
              </a:rPr>
              <a:t>Thank you</a:t>
            </a:r>
          </a:p>
        </p:txBody>
      </p:sp>
      <p:sp>
        <p:nvSpPr>
          <p:cNvPr id="21" name="TextBox 20"/>
          <p:cNvSpPr txBox="1"/>
          <p:nvPr/>
        </p:nvSpPr>
        <p:spPr>
          <a:xfrm>
            <a:off x="7242048" y="5074920"/>
            <a:ext cx="3657600" cy="685800"/>
          </a:xfrm>
          <a:prstGeom prst="rect">
            <a:avLst/>
          </a:prstGeom>
          <a:noFill/>
        </p:spPr>
        <p:txBody>
          <a:bodyPr wrap="square" lIns="0" tIns="0" rIns="0" bIns="0" anchor="ctr">
            <a:spAutoFit/>
          </a:bodyPr>
          <a:lstStyle/>
          <a:p>
            <a:pPr algn="r">
              <a:spcAft>
                <a:spcPts val="400"/>
              </a:spcAft>
            </a:pPr>
            <a:r>
              <a:rPr sz="1700" b="0" i="0">
                <a:solidFill>
                  <a:srgbClr val="FFFFFF"/>
                </a:solidFill>
                <a:latin typeface="Tw Cen MT"/>
              </a:rPr>
              <a:t>Questions and discussion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411480"/>
            <a:ext cx="10149840" cy="914400"/>
          </a:xfrm>
        </p:spPr>
        <p:txBody>
          <a:bodyPr/>
          <a:lstStyle/>
          <a:p>
            <a:r>
              <a:rPr sz="3400"/>
              <a:t>References</a:t>
            </a:r>
          </a:p>
        </p:txBody>
      </p:sp>
      <p:sp>
        <p:nvSpPr>
          <p:cNvPr id="3" name="TextBox 2"/>
          <p:cNvSpPr txBox="1"/>
          <p:nvPr/>
        </p:nvSpPr>
        <p:spPr>
          <a:xfrm>
            <a:off x="1024128" y="6419088"/>
            <a:ext cx="3200400" cy="274320"/>
          </a:xfrm>
          <a:prstGeom prst="rect">
            <a:avLst/>
          </a:prstGeom>
          <a:noFill/>
        </p:spPr>
        <p:txBody>
          <a:bodyPr wrap="square" lIns="0" tIns="0" rIns="0" bIns="0" anchor="t">
            <a:spAutoFit/>
          </a:bodyPr>
          <a:lstStyle/>
          <a:p>
            <a:pPr algn="l">
              <a:spcAft>
                <a:spcPts val="400"/>
              </a:spcAft>
            </a:pPr>
            <a:r>
              <a:rPr sz="1200" b="1" i="0">
                <a:solidFill>
                  <a:srgbClr val="63A537"/>
                </a:solidFill>
                <a:latin typeface="Tw Cen MT"/>
              </a:rPr>
              <a:t>REFERENCES</a:t>
            </a:r>
          </a:p>
        </p:txBody>
      </p:sp>
      <p:sp>
        <p:nvSpPr>
          <p:cNvPr id="4" name="TextBox 3"/>
          <p:cNvSpPr txBox="1"/>
          <p:nvPr/>
        </p:nvSpPr>
        <p:spPr>
          <a:xfrm>
            <a:off x="3840480" y="6419088"/>
            <a:ext cx="4572000" cy="274320"/>
          </a:xfrm>
          <a:prstGeom prst="rect">
            <a:avLst/>
          </a:prstGeom>
          <a:noFill/>
        </p:spPr>
        <p:txBody>
          <a:bodyPr wrap="square" lIns="0" tIns="0" rIns="0" bIns="0" anchor="t">
            <a:spAutoFit/>
          </a:bodyPr>
          <a:lstStyle/>
          <a:p>
            <a:pPr algn="ctr">
              <a:spcAft>
                <a:spcPts val="400"/>
              </a:spcAft>
            </a:pPr>
            <a:r>
              <a:rPr sz="1200" b="0" i="0">
                <a:solidFill>
                  <a:srgbClr val="595959"/>
                </a:solidFill>
                <a:latin typeface="Tw Cen MT"/>
              </a:rPr>
              <a:t>Data Analysis Internship   |   Task 12   |   NYC Airbnb</a:t>
            </a:r>
          </a:p>
        </p:txBody>
      </p:sp>
      <p:sp>
        <p:nvSpPr>
          <p:cNvPr id="5" name="TextBox 4"/>
          <p:cNvSpPr txBox="1"/>
          <p:nvPr/>
        </p:nvSpPr>
        <p:spPr>
          <a:xfrm>
            <a:off x="10076688" y="6419088"/>
            <a:ext cx="1097280" cy="274320"/>
          </a:xfrm>
          <a:prstGeom prst="rect">
            <a:avLst/>
          </a:prstGeom>
          <a:noFill/>
        </p:spPr>
        <p:txBody>
          <a:bodyPr wrap="square" lIns="0" tIns="0" rIns="0" bIns="0" anchor="t">
            <a:spAutoFit/>
          </a:bodyPr>
          <a:lstStyle/>
          <a:p>
            <a:pPr algn="r">
              <a:spcAft>
                <a:spcPts val="400"/>
              </a:spcAft>
            </a:pPr>
            <a:fld id="{B6F15528-21DE-4FAA-801E-634DDDAF4B2B}" type="slidenum">
              <a:rPr sz="1200" b="0" i="0">
                <a:solidFill>
                  <a:srgbClr val="595959"/>
                </a:solidFill>
                <a:latin typeface="Tw Cen MT"/>
              </a:rPr>
              <a:t>20</a:t>
            </a:fld>
            <a:endParaRPr sz="1200" b="0" i="0">
              <a:solidFill>
                <a:srgbClr val="595959"/>
              </a:solidFill>
              <a:latin typeface="Tw Cen MT"/>
            </a:endParaRPr>
          </a:p>
        </p:txBody>
      </p:sp>
      <p:sp>
        <p:nvSpPr>
          <p:cNvPr id="6" name="TextBox 5"/>
          <p:cNvSpPr txBox="1"/>
          <p:nvPr/>
        </p:nvSpPr>
        <p:spPr>
          <a:xfrm>
            <a:off x="1024128" y="1554480"/>
            <a:ext cx="10149840" cy="4114800"/>
          </a:xfrm>
          <a:prstGeom prst="rect">
            <a:avLst/>
          </a:prstGeom>
          <a:noFill/>
        </p:spPr>
        <p:txBody>
          <a:bodyPr wrap="square" lIns="0" tIns="0" rIns="0" bIns="0" anchor="t">
            <a:spAutoFit/>
          </a:bodyPr>
          <a:lstStyle/>
          <a:p>
            <a:pPr algn="l">
              <a:spcAft>
                <a:spcPts val="1200"/>
              </a:spcAft>
            </a:pPr>
            <a:r>
              <a:rPr sz="1600" b="0" i="0">
                <a:solidFill>
                  <a:srgbClr val="1A1A1A"/>
                </a:solidFill>
                <a:latin typeface="Tw Cen MT"/>
              </a:rPr>
              <a:t>Data Analysis Internship, Task 12. AB_NYC_2019.csv and New_York_City_.png, dataset supplied for the final project.</a:t>
            </a:r>
          </a:p>
          <a:p>
            <a:pPr algn="l">
              <a:spcAft>
                <a:spcPts val="1200"/>
              </a:spcAft>
            </a:pPr>
            <a:r>
              <a:rPr sz="1600" b="0" i="0">
                <a:solidFill>
                  <a:srgbClr val="1A1A1A"/>
                </a:solidFill>
                <a:latin typeface="Tw Cen MT"/>
              </a:rPr>
              <a:t>Gebru, T. et al. (2021). Datasheets for Datasets. Communications of the ACM, 64(12), 86-92.</a:t>
            </a:r>
          </a:p>
          <a:p>
            <a:pPr algn="l">
              <a:spcAft>
                <a:spcPts val="1200"/>
              </a:spcAft>
            </a:pPr>
            <a:r>
              <a:rPr sz="1600" b="0" i="0">
                <a:solidFill>
                  <a:srgbClr val="1A1A1A"/>
                </a:solidFill>
                <a:latin typeface="Tw Cen MT"/>
              </a:rPr>
              <a:t>Kruskal, W. H., &amp; Wallis, W. A. (1952). Use of ranks in one-criterion variance analysis. JASA, 47(260), 583-621.</a:t>
            </a:r>
          </a:p>
          <a:p>
            <a:pPr algn="l">
              <a:spcAft>
                <a:spcPts val="1200"/>
              </a:spcAft>
            </a:pPr>
            <a:r>
              <a:rPr sz="1600" b="0" i="0">
                <a:solidFill>
                  <a:srgbClr val="1A1A1A"/>
                </a:solidFill>
                <a:latin typeface="Tw Cen MT"/>
              </a:rPr>
              <a:t>Seabold, S., &amp; Perktold, J. (2010). statsmodels: Econometric and statistical modeling with Python. Proc. 9th Python in Science Conf.</a:t>
            </a:r>
          </a:p>
          <a:p>
            <a:pPr algn="l">
              <a:spcAft>
                <a:spcPts val="1200"/>
              </a:spcAft>
            </a:pPr>
            <a:r>
              <a:rPr sz="1600" b="0" i="0">
                <a:solidFill>
                  <a:srgbClr val="1A1A1A"/>
                </a:solidFill>
                <a:latin typeface="Tw Cen MT"/>
              </a:rPr>
              <a:t>Microsoft. Power BI documentation. https://learn.microsoft.com/power-bi/</a:t>
            </a:r>
          </a:p>
          <a:p>
            <a:pPr algn="l">
              <a:spcAft>
                <a:spcPts val="1200"/>
              </a:spcAft>
            </a:pPr>
            <a:r>
              <a:rPr sz="1600" b="0" i="0">
                <a:solidFill>
                  <a:srgbClr val="1A1A1A"/>
                </a:solidFill>
                <a:latin typeface="Tw Cen MT"/>
              </a:rPr>
              <a:t>Microsoft. Fluent Emoji 3D (icons of the dashboard), MIT License. github.com/microsoft/fluentui-emoji</a:t>
            </a:r>
          </a:p>
        </p:txBody>
      </p:sp>
      <p:sp>
        <p:nvSpPr>
          <p:cNvPr id="7" name="TextBox 6"/>
          <p:cNvSpPr txBox="1"/>
          <p:nvPr/>
        </p:nvSpPr>
        <p:spPr>
          <a:xfrm>
            <a:off x="1024128" y="5394960"/>
            <a:ext cx="10149840" cy="365760"/>
          </a:xfrm>
          <a:prstGeom prst="rect">
            <a:avLst/>
          </a:prstGeom>
          <a:noFill/>
        </p:spPr>
        <p:txBody>
          <a:bodyPr wrap="square" lIns="0" tIns="0" rIns="0" bIns="0" anchor="t">
            <a:spAutoFit/>
          </a:bodyPr>
          <a:lstStyle/>
          <a:p>
            <a:pPr algn="l">
              <a:spcAft>
                <a:spcPts val="400"/>
              </a:spcAft>
            </a:pPr>
            <a:r>
              <a:rPr sz="1500" b="1" i="0">
                <a:solidFill>
                  <a:srgbClr val="63A537"/>
                </a:solidFill>
                <a:latin typeface="Tw Cen MT"/>
              </a:rPr>
              <a:t>Project: github.com/koffifidelek59-collab/nyc-airbnb-analytics   |   koffifidelek59@gmail.com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4044</TotalTime>
  <Words>1894</Words>
  <Application>Microsoft Office PowerPoint</Application>
  <PresentationFormat>Widescreen</PresentationFormat>
  <Paragraphs>317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Tw Cen MT</vt:lpstr>
      <vt:lpstr>Tw Cen MT Condensed</vt:lpstr>
      <vt:lpstr>Wingdings 3</vt:lpstr>
      <vt:lpstr>Integral</vt:lpstr>
      <vt:lpstr>PowerPoint Presentation</vt:lpstr>
      <vt:lpstr>Roadmap: one dataset, seven questions</vt:lpstr>
      <vt:lpstr>The brief: seven business questions</vt:lpstr>
      <vt:lpstr>The dataset in one table</vt:lpstr>
      <vt:lpstr>Cleaning: ten logged steps</vt:lpstr>
      <vt:lpstr>Key figures of the market</vt:lpstr>
      <vt:lpstr>Question 1: listing types</vt:lpstr>
      <vt:lpstr>Question 2: the most active areas</vt:lpstr>
      <vt:lpstr>Where the listings are</vt:lpstr>
      <vt:lpstr>Question 3: prices by area</vt:lpstr>
      <vt:lpstr>Question 4: price, ratings and reviews</vt:lpstr>
      <vt:lpstr>Question 5: what moves the price</vt:lpstr>
      <vt:lpstr>Question 6: where demand is strongest</vt:lpstr>
      <vt:lpstr>Question 7: patterns in hosts and activity</vt:lpstr>
      <vt:lpstr>The Power BI dashboard</vt:lpstr>
      <vt:lpstr>Dashboard pages</vt:lpstr>
      <vt:lpstr>Business insights</vt:lpstr>
      <vt:lpstr>Recommendations</vt:lpstr>
      <vt:lpstr>Conclusion</vt:lpstr>
      <vt:lpstr>References</vt:lpstr>
    </vt:vector>
  </TitlesOfParts>
  <Company>HCT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Yacouba Moumouni</dc:creator>
  <cp:lastModifiedBy>Koffi Fidèle  KOUAME</cp:lastModifiedBy>
  <cp:revision>37</cp:revision>
  <dcterms:created xsi:type="dcterms:W3CDTF">2022-06-11T14:23:37Z</dcterms:created>
  <dcterms:modified xsi:type="dcterms:W3CDTF">2026-10-10T15:46:57Z</dcterms:modified>
</cp:coreProperties>
</file>